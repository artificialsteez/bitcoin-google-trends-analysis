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varScale="1">
        <p:scale>
          <a:sx n="88" d="100"/>
          <a:sy n="88" d="100"/>
        </p:scale>
        <p:origin x="176" y="92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214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study focus: the project tests whether Google Trends search attention leads, lags, or predicts Bitcoin market variables. Emphasize the main message: attention is more useful for understanding participation and volume than for predicting price direction.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research question clearly. Explain that the null hypothesis means no useful lead-lag or predictive relationship, while the alternative means Google search attention contains useful timing or predictive information.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Google Trends is weekly, so Bitcoin variables were aggregated to weekly frequency. The merged dataset contains 51 weekly observations with no missing values after alignment.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why each keyword matters. Bitcoin is general attention, BTC Price reflects monitoring, Bitcoin News reflects information seeking, Crypto Crash reflects stress, and Buy Bitcoin reflects purchase intention.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visual patterns. The market has distinct regimes, but attention does not consistently move before returns. Volume spikes are more visually linked to attention.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diagnostics were needed before lead-lag analysis. The main point is that returns were stationary, attention variables had some persistence, and non-stationary variables were transformed or treated conservatively.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that cross-correlation is a timing map. The most important result is that Trend_Bitcoin had its strongest relationship with volume at about two weeks.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Granger causality supported the attention-to-volume relationship most strongly. Return results exist, but the later machine learning slide shows that this does not translate into reliable prediction.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predictive model honestly. The Random Forest gave poor test performance for returns, so it should not be oversold. Google Trends may be statistically related, but not strong enough for reliable return prediction.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GARCH captured volatility but showed weak clustering in this sample. Trend_Bitcoin had one significant lag in the combined attention-to-volatility regression, but overall explanatory power was limited.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synthesize everything. The report's key contribution is not one p-value; it is the integrated interpretation that attention is most useful for market participation, especially volume.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decisively. The strongest defensible conclusion is that Google Trends matters more for explaining participation and intensity than for predicting returns or volatility.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3" name="Text 0"/>
          <p:cNvSpPr/>
          <p:nvPr/>
        </p:nvSpPr>
        <p:spPr>
          <a:xfrm>
            <a:off x="640080" y="548640"/>
            <a:ext cx="1325880" cy="283464"/>
          </a:xfrm>
          <a:prstGeom prst="rect">
            <a:avLst/>
          </a:prstGeom>
          <a:solidFill>
            <a:srgbClr val="2563EB"/>
          </a:solidFill>
          <a:ln>
            <a:solidFill>
              <a:srgbClr val="2563EB">
                <a:alpha val="0"/>
              </a:srgbClr>
            </a:solidFill>
          </a:ln>
        </p:spPr>
        <p:txBody>
          <a:bodyPr wrap="square" lIns="381" tIns="381" rIns="381" bIns="381" rtlCol="0" anchor="ctr"/>
          <a:lstStyle/>
          <a:p>
            <a:pPr marL="0" indent="0" algn="ctr">
              <a:buNone/>
            </a:pPr>
            <a:r>
              <a:rPr lang="en-US" sz="1200" b="1" dirty="0">
                <a:solidFill>
                  <a:srgbClr val="FFFFFF"/>
                </a:solidFill>
              </a:rPr>
              <a:t>EDAB 6808</a:t>
            </a:r>
            <a:endParaRPr lang="en-US" sz="1200" dirty="0"/>
          </a:p>
        </p:txBody>
      </p:sp>
      <p:sp>
        <p:nvSpPr>
          <p:cNvPr id="4" name="Text 1"/>
          <p:cNvSpPr/>
          <p:nvPr/>
        </p:nvSpPr>
        <p:spPr>
          <a:xfrm>
            <a:off x="640080" y="1924812"/>
            <a:ext cx="5440680" cy="1325880"/>
          </a:xfrm>
          <a:prstGeom prst="rect">
            <a:avLst/>
          </a:prstGeom>
          <a:noFill/>
          <a:ln/>
        </p:spPr>
        <p:txBody>
          <a:bodyPr wrap="square" lIns="0" tIns="0" rIns="0" bIns="0" rtlCol="0" anchor="ctr">
            <a:normAutofit fontScale="85000" lnSpcReduction="10000"/>
          </a:bodyPr>
          <a:lstStyle/>
          <a:p>
            <a:pPr marL="0" indent="0" algn="ctr">
              <a:buNone/>
            </a:pPr>
            <a:r>
              <a:rPr lang="en-US" sz="3800" b="1" dirty="0">
                <a:solidFill>
                  <a:srgbClr val="FFFFFF"/>
                </a:solidFill>
                <a:latin typeface="Aptos Display" pitchFamily="34" charset="0"/>
                <a:ea typeface="Aptos Display" pitchFamily="34" charset="-122"/>
                <a:cs typeface="Aptos Display" pitchFamily="34" charset="-120"/>
              </a:rPr>
              <a:t>Lead–Lag Relationships Between</a:t>
            </a:r>
            <a:endParaRPr lang="en-US" sz="3800" dirty="0"/>
          </a:p>
          <a:p>
            <a:pPr marL="0" indent="0" algn="ctr">
              <a:buNone/>
            </a:pPr>
            <a:r>
              <a:rPr lang="en-US" sz="3800" b="1" dirty="0">
                <a:solidFill>
                  <a:srgbClr val="FFFFFF"/>
                </a:solidFill>
                <a:latin typeface="Aptos Display" pitchFamily="34" charset="0"/>
                <a:ea typeface="Aptos Display" pitchFamily="34" charset="-122"/>
                <a:cs typeface="Aptos Display" pitchFamily="34" charset="-120"/>
              </a:rPr>
              <a:t>Bitcoin and Internet Attention</a:t>
            </a:r>
            <a:endParaRPr lang="en-US" sz="3800" dirty="0"/>
          </a:p>
        </p:txBody>
      </p:sp>
      <p:sp>
        <p:nvSpPr>
          <p:cNvPr id="6" name="Shape 3"/>
          <p:cNvSpPr/>
          <p:nvPr/>
        </p:nvSpPr>
        <p:spPr>
          <a:xfrm>
            <a:off x="658368" y="4160520"/>
            <a:ext cx="5715000" cy="1188720"/>
          </a:xfrm>
          <a:prstGeom prst="roundRect">
            <a:avLst>
              <a:gd name="adj" fmla="val 9231"/>
            </a:avLst>
          </a:prstGeom>
          <a:solidFill>
            <a:srgbClr val="111827"/>
          </a:solidFill>
          <a:ln w="12700">
            <a:solidFill>
              <a:srgbClr val="111827">
                <a:alpha val="0"/>
              </a:srgbClr>
            </a:solidFill>
            <a:prstDash val="solid"/>
          </a:ln>
          <a:effectLst>
            <a:outerShdw blurRad="19050" dist="12700" dir="2700000" algn="bl" rotWithShape="0">
              <a:srgbClr val="000000">
                <a:alpha val="15000"/>
              </a:srgbClr>
            </a:outerShdw>
          </a:effectLst>
        </p:spPr>
        <p:txBody>
          <a:bodyPr/>
          <a:lstStyle/>
          <a:p>
            <a:endParaRPr lang="en-ZA"/>
          </a:p>
        </p:txBody>
      </p:sp>
      <p:sp>
        <p:nvSpPr>
          <p:cNvPr id="7" name="Text 4"/>
          <p:cNvSpPr/>
          <p:nvPr/>
        </p:nvSpPr>
        <p:spPr>
          <a:xfrm>
            <a:off x="859536" y="4325112"/>
            <a:ext cx="5312664" cy="859536"/>
          </a:xfrm>
          <a:prstGeom prst="rect">
            <a:avLst/>
          </a:prstGeom>
          <a:noFill/>
          <a:ln/>
        </p:spPr>
        <p:txBody>
          <a:bodyPr wrap="square" lIns="508" tIns="508" rIns="508" bIns="508" rtlCol="0" anchor="ctr">
            <a:normAutofit lnSpcReduction="10000"/>
          </a:bodyPr>
          <a:lstStyle/>
          <a:p>
            <a:pPr marL="0" indent="0">
              <a:buNone/>
            </a:pPr>
            <a:r>
              <a:rPr lang="en-US" sz="2000" b="1" dirty="0">
                <a:solidFill>
                  <a:srgbClr val="FFFFFF"/>
                </a:solidFill>
              </a:rPr>
              <a:t>Core finding: internet attention helps explain market participation more than price direction.</a:t>
            </a:r>
            <a:endParaRPr lang="en-US" sz="2000" dirty="0"/>
          </a:p>
        </p:txBody>
      </p:sp>
      <p:sp>
        <p:nvSpPr>
          <p:cNvPr id="8" name="Text 5"/>
          <p:cNvSpPr/>
          <p:nvPr/>
        </p:nvSpPr>
        <p:spPr>
          <a:xfrm>
            <a:off x="658368" y="6172200"/>
            <a:ext cx="5120640" cy="228600"/>
          </a:xfrm>
          <a:prstGeom prst="rect">
            <a:avLst/>
          </a:prstGeom>
          <a:noFill/>
          <a:ln/>
        </p:spPr>
        <p:txBody>
          <a:bodyPr wrap="square" lIns="0" tIns="0" rIns="0" bIns="0" rtlCol="0" anchor="ctr"/>
          <a:lstStyle/>
          <a:p>
            <a:pPr marL="0" indent="0">
              <a:buNone/>
            </a:pPr>
            <a:r>
              <a:rPr lang="en-US" sz="1200" dirty="0">
                <a:solidFill>
                  <a:srgbClr val="CBD5E1"/>
                </a:solidFill>
              </a:rPr>
              <a:t>Prepared by: Lwazi Nhlapo &amp; Reatile Seekoei</a:t>
            </a:r>
            <a:endParaRPr lang="en-US" sz="1200" dirty="0"/>
          </a:p>
        </p:txBody>
      </p:sp>
      <p:sp>
        <p:nvSpPr>
          <p:cNvPr id="10" name="Shape 7"/>
          <p:cNvSpPr/>
          <p:nvPr/>
        </p:nvSpPr>
        <p:spPr>
          <a:xfrm>
            <a:off x="10390093" y="310179"/>
            <a:ext cx="1371600" cy="1371600"/>
          </a:xfrm>
          <a:prstGeom prst="arc">
            <a:avLst/>
          </a:prstGeom>
          <a:noFill/>
          <a:ln w="50800">
            <a:solidFill>
              <a:srgbClr val="F59E0B">
                <a:alpha val="80000"/>
              </a:srgbClr>
            </a:solidFill>
            <a:prstDash val="solid"/>
          </a:ln>
        </p:spPr>
        <p:txBody>
          <a:bodyPr/>
          <a:lstStyle/>
          <a:p>
            <a:endParaRPr lang="en-ZA"/>
          </a:p>
        </p:txBody>
      </p:sp>
      <p:sp>
        <p:nvSpPr>
          <p:cNvPr id="12" name="Shape 7">
            <a:extLst>
              <a:ext uri="{FF2B5EF4-FFF2-40B4-BE49-F238E27FC236}">
                <a16:creationId xmlns:a16="http://schemas.microsoft.com/office/drawing/2014/main" id="{4105BC81-AC01-47D6-74B4-DA80200D4B74}"/>
              </a:ext>
            </a:extLst>
          </p:cNvPr>
          <p:cNvSpPr/>
          <p:nvPr/>
        </p:nvSpPr>
        <p:spPr>
          <a:xfrm rot="5040898">
            <a:off x="10390093" y="5273754"/>
            <a:ext cx="1371600" cy="1371600"/>
          </a:xfrm>
          <a:prstGeom prst="arc">
            <a:avLst/>
          </a:prstGeom>
          <a:noFill/>
          <a:ln w="50800">
            <a:solidFill>
              <a:srgbClr val="F59E0B">
                <a:alpha val="80000"/>
              </a:srgbClr>
            </a:solidFill>
            <a:prstDash val="solid"/>
          </a:ln>
        </p:spPr>
        <p:txBody>
          <a:bodyPr/>
          <a:lstStyle/>
          <a:p>
            <a:endParaRPr lang="en-ZA" dirty="0"/>
          </a:p>
        </p:txBody>
      </p:sp>
      <p:pic>
        <p:nvPicPr>
          <p:cNvPr id="13" name="Picture 12">
            <a:extLst>
              <a:ext uri="{FF2B5EF4-FFF2-40B4-BE49-F238E27FC236}">
                <a16:creationId xmlns:a16="http://schemas.microsoft.com/office/drawing/2014/main" id="{8483198D-4BDC-59FD-79A2-4474A9C409E7}"/>
              </a:ext>
            </a:extLst>
          </p:cNvPr>
          <p:cNvPicPr>
            <a:picLocks noChangeAspect="1"/>
          </p:cNvPicPr>
          <p:nvPr/>
        </p:nvPicPr>
        <p:blipFill>
          <a:blip r:embed="rId3"/>
          <a:stretch>
            <a:fillRect/>
          </a:stretch>
        </p:blipFill>
        <p:spPr>
          <a:xfrm>
            <a:off x="6281928" y="1923318"/>
            <a:ext cx="5693238" cy="32826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Research problem and hypotheses</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Framing</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Text 3"/>
          <p:cNvSpPr/>
          <p:nvPr/>
        </p:nvSpPr>
        <p:spPr>
          <a:xfrm>
            <a:off x="685800" y="1078992"/>
            <a:ext cx="2103120" cy="256032"/>
          </a:xfrm>
          <a:prstGeom prst="rect">
            <a:avLst/>
          </a:prstGeom>
          <a:noFill/>
          <a:ln/>
        </p:spPr>
        <p:txBody>
          <a:bodyPr wrap="square" lIns="0" tIns="0" rIns="0" bIns="0" rtlCol="0" anchor="ctr"/>
          <a:lstStyle/>
          <a:p>
            <a:pPr marL="0" indent="0">
              <a:buNone/>
            </a:pPr>
            <a:r>
              <a:rPr lang="en-US" sz="1400" b="1" dirty="0">
                <a:solidFill>
                  <a:srgbClr val="2563EB"/>
                </a:solidFill>
              </a:rPr>
              <a:t>Research question</a:t>
            </a:r>
            <a:endParaRPr lang="en-US" sz="1400" dirty="0"/>
          </a:p>
        </p:txBody>
      </p:sp>
      <p:sp>
        <p:nvSpPr>
          <p:cNvPr id="6" name="Text 4"/>
          <p:cNvSpPr/>
          <p:nvPr/>
        </p:nvSpPr>
        <p:spPr>
          <a:xfrm>
            <a:off x="685800" y="1417320"/>
            <a:ext cx="5623560" cy="1051560"/>
          </a:xfrm>
          <a:prstGeom prst="rect">
            <a:avLst/>
          </a:prstGeom>
          <a:noFill/>
          <a:ln/>
        </p:spPr>
        <p:txBody>
          <a:bodyPr wrap="square" lIns="0" tIns="0" rIns="0" bIns="0" rtlCol="0" anchor="ctr">
            <a:normAutofit fontScale="85000" lnSpcReduction="20000"/>
          </a:bodyPr>
          <a:lstStyle/>
          <a:p>
            <a:pPr marL="0" indent="0">
              <a:buNone/>
            </a:pPr>
            <a:r>
              <a:rPr lang="en-US" sz="2400" b="1" dirty="0">
                <a:solidFill>
                  <a:srgbClr val="0F172A"/>
                </a:solidFill>
              </a:rPr>
              <a:t>Does Google Trends internet attention lead or lag Bitcoin market activity, and does it add predictive information for returns, trading volume, and volatility?</a:t>
            </a:r>
            <a:endParaRPr lang="en-US" sz="2400" dirty="0"/>
          </a:p>
        </p:txBody>
      </p:sp>
      <p:sp>
        <p:nvSpPr>
          <p:cNvPr id="7" name="Shape 5"/>
          <p:cNvSpPr/>
          <p:nvPr/>
        </p:nvSpPr>
        <p:spPr>
          <a:xfrm>
            <a:off x="713232" y="2788920"/>
            <a:ext cx="2560320" cy="1280160"/>
          </a:xfrm>
          <a:prstGeom prst="roundRect">
            <a:avLst>
              <a:gd name="adj" fmla="val 7143"/>
            </a:avLst>
          </a:prstGeom>
          <a:solidFill>
            <a:srgbClr val="FFFFFF"/>
          </a:solidFill>
          <a:ln w="12700">
            <a:solidFill>
              <a:srgbClr val="CBD5E1"/>
            </a:solidFill>
            <a:prstDash val="solid"/>
          </a:ln>
          <a:effectLst>
            <a:outerShdw blurRad="12700" dist="12700" dir="2700000" algn="bl" rotWithShape="0">
              <a:srgbClr val="000000">
                <a:alpha val="7000"/>
              </a:srgbClr>
            </a:outerShdw>
          </a:effectLst>
        </p:spPr>
        <p:txBody>
          <a:bodyPr/>
          <a:lstStyle/>
          <a:p>
            <a:endParaRPr lang="en-ZA" dirty="0"/>
          </a:p>
        </p:txBody>
      </p:sp>
      <p:sp>
        <p:nvSpPr>
          <p:cNvPr id="8" name="Text 6"/>
          <p:cNvSpPr/>
          <p:nvPr/>
        </p:nvSpPr>
        <p:spPr>
          <a:xfrm>
            <a:off x="914400" y="2944368"/>
            <a:ext cx="731520" cy="329184"/>
          </a:xfrm>
          <a:prstGeom prst="rect">
            <a:avLst/>
          </a:prstGeom>
          <a:noFill/>
          <a:ln/>
        </p:spPr>
        <p:txBody>
          <a:bodyPr wrap="square" lIns="0" tIns="0" rIns="0" bIns="0" rtlCol="0" anchor="ctr"/>
          <a:lstStyle/>
          <a:p>
            <a:pPr marL="0" indent="0">
              <a:buNone/>
            </a:pPr>
            <a:r>
              <a:rPr lang="en-US" sz="2400" b="1" dirty="0">
                <a:solidFill>
                  <a:srgbClr val="EF4444"/>
                </a:solidFill>
              </a:rPr>
              <a:t>H₀</a:t>
            </a:r>
            <a:endParaRPr lang="en-US" sz="2400" dirty="0"/>
          </a:p>
        </p:txBody>
      </p:sp>
      <p:sp>
        <p:nvSpPr>
          <p:cNvPr id="9" name="Text 7"/>
          <p:cNvSpPr/>
          <p:nvPr/>
        </p:nvSpPr>
        <p:spPr>
          <a:xfrm>
            <a:off x="914400" y="3364992"/>
            <a:ext cx="2057400" cy="438912"/>
          </a:xfrm>
          <a:prstGeom prst="rect">
            <a:avLst/>
          </a:prstGeom>
          <a:noFill/>
          <a:ln/>
        </p:spPr>
        <p:txBody>
          <a:bodyPr wrap="square" lIns="0" tIns="0" rIns="0" bIns="0" rtlCol="0" anchor="ctr">
            <a:normAutofit fontScale="70000" lnSpcReduction="20000"/>
          </a:bodyPr>
          <a:lstStyle/>
          <a:p>
            <a:pPr marL="0" indent="0">
              <a:buNone/>
            </a:pPr>
            <a:r>
              <a:rPr lang="en-US" sz="1500" dirty="0">
                <a:solidFill>
                  <a:srgbClr val="0F172A"/>
                </a:solidFill>
              </a:rPr>
              <a:t>Attention does not lead, lag, or predict Bitcoin market variables.</a:t>
            </a:r>
            <a:endParaRPr lang="en-US" sz="1500" dirty="0"/>
          </a:p>
        </p:txBody>
      </p:sp>
      <p:sp>
        <p:nvSpPr>
          <p:cNvPr id="10" name="Shape 8"/>
          <p:cNvSpPr/>
          <p:nvPr/>
        </p:nvSpPr>
        <p:spPr>
          <a:xfrm>
            <a:off x="3611880" y="2788920"/>
            <a:ext cx="2560320" cy="1280160"/>
          </a:xfrm>
          <a:prstGeom prst="roundRect">
            <a:avLst>
              <a:gd name="adj" fmla="val 7143"/>
            </a:avLst>
          </a:prstGeom>
          <a:solidFill>
            <a:srgbClr val="FFFFFF"/>
          </a:solidFill>
          <a:ln w="12700">
            <a:solidFill>
              <a:srgbClr val="CBD5E1"/>
            </a:solidFill>
            <a:prstDash val="solid"/>
          </a:ln>
          <a:effectLst>
            <a:outerShdw blurRad="12700" dist="12700" dir="2700000" algn="bl" rotWithShape="0">
              <a:srgbClr val="000000">
                <a:alpha val="7000"/>
              </a:srgbClr>
            </a:outerShdw>
          </a:effectLst>
        </p:spPr>
        <p:txBody>
          <a:bodyPr/>
          <a:lstStyle/>
          <a:p>
            <a:endParaRPr lang="en-ZA"/>
          </a:p>
        </p:txBody>
      </p:sp>
      <p:sp>
        <p:nvSpPr>
          <p:cNvPr id="11" name="Text 9"/>
          <p:cNvSpPr/>
          <p:nvPr/>
        </p:nvSpPr>
        <p:spPr>
          <a:xfrm>
            <a:off x="3813048" y="2944368"/>
            <a:ext cx="731520" cy="329184"/>
          </a:xfrm>
          <a:prstGeom prst="rect">
            <a:avLst/>
          </a:prstGeom>
          <a:noFill/>
          <a:ln/>
        </p:spPr>
        <p:txBody>
          <a:bodyPr wrap="square" lIns="0" tIns="0" rIns="0" bIns="0" rtlCol="0" anchor="ctr"/>
          <a:lstStyle/>
          <a:p>
            <a:pPr marL="0" indent="0">
              <a:buNone/>
            </a:pPr>
            <a:r>
              <a:rPr lang="en-US" sz="2400" b="1" dirty="0">
                <a:solidFill>
                  <a:srgbClr val="10B981"/>
                </a:solidFill>
              </a:rPr>
              <a:t>H₁</a:t>
            </a:r>
            <a:endParaRPr lang="en-US" sz="2400" dirty="0"/>
          </a:p>
        </p:txBody>
      </p:sp>
      <p:sp>
        <p:nvSpPr>
          <p:cNvPr id="12" name="Text 10"/>
          <p:cNvSpPr/>
          <p:nvPr/>
        </p:nvSpPr>
        <p:spPr>
          <a:xfrm>
            <a:off x="3813048" y="3364992"/>
            <a:ext cx="2057400" cy="438912"/>
          </a:xfrm>
          <a:prstGeom prst="rect">
            <a:avLst/>
          </a:prstGeom>
          <a:noFill/>
          <a:ln/>
        </p:spPr>
        <p:txBody>
          <a:bodyPr wrap="square" lIns="0" tIns="0" rIns="0" bIns="0" rtlCol="0" anchor="ctr">
            <a:normAutofit fontScale="77500" lnSpcReduction="20000"/>
          </a:bodyPr>
          <a:lstStyle/>
          <a:p>
            <a:pPr marL="0" indent="0">
              <a:buNone/>
            </a:pPr>
            <a:r>
              <a:rPr lang="en-US" sz="1500" dirty="0">
                <a:solidFill>
                  <a:srgbClr val="0F172A"/>
                </a:solidFill>
              </a:rPr>
              <a:t>Attention contains useful lead–lag or predictive information.</a:t>
            </a:r>
            <a:endParaRPr lang="en-US" sz="1500" dirty="0"/>
          </a:p>
        </p:txBody>
      </p:sp>
      <p:sp>
        <p:nvSpPr>
          <p:cNvPr id="13" name="Text 11"/>
          <p:cNvSpPr/>
          <p:nvPr/>
        </p:nvSpPr>
        <p:spPr>
          <a:xfrm>
            <a:off x="6675120" y="1024128"/>
            <a:ext cx="1920240" cy="384048"/>
          </a:xfrm>
          <a:prstGeom prst="rect">
            <a:avLst/>
          </a:prstGeom>
          <a:noFill/>
          <a:ln/>
        </p:spPr>
        <p:txBody>
          <a:bodyPr wrap="square" lIns="0" tIns="0" rIns="0" bIns="0" rtlCol="0" anchor="ctr"/>
          <a:lstStyle/>
          <a:p>
            <a:pPr marL="0" indent="0" algn="ctr">
              <a:buNone/>
            </a:pPr>
            <a:r>
              <a:rPr lang="en-US" sz="2000" b="1" dirty="0">
                <a:solidFill>
                  <a:srgbClr val="2563EB"/>
                </a:solidFill>
              </a:rPr>
              <a:t>Google Trends attention</a:t>
            </a:r>
            <a:endParaRPr lang="en-US" sz="2000" dirty="0"/>
          </a:p>
        </p:txBody>
      </p:sp>
      <p:sp>
        <p:nvSpPr>
          <p:cNvPr id="14" name="Shape 12"/>
          <p:cNvSpPr/>
          <p:nvPr/>
        </p:nvSpPr>
        <p:spPr>
          <a:xfrm>
            <a:off x="7635240" y="1600200"/>
            <a:ext cx="0" cy="594360"/>
          </a:xfrm>
          <a:prstGeom prst="line">
            <a:avLst/>
          </a:prstGeom>
          <a:noFill/>
          <a:ln w="25400">
            <a:solidFill>
              <a:srgbClr val="334155"/>
            </a:solidFill>
            <a:prstDash val="solid"/>
            <a:headEnd type="none"/>
            <a:tailEnd type="triangle"/>
          </a:ln>
        </p:spPr>
        <p:txBody>
          <a:bodyPr/>
          <a:lstStyle/>
          <a:p>
            <a:endParaRPr lang="en-ZA"/>
          </a:p>
        </p:txBody>
      </p:sp>
      <p:sp>
        <p:nvSpPr>
          <p:cNvPr id="15" name="Text 13"/>
          <p:cNvSpPr/>
          <p:nvPr/>
        </p:nvSpPr>
        <p:spPr>
          <a:xfrm>
            <a:off x="6995160" y="2304288"/>
            <a:ext cx="1371600" cy="566928"/>
          </a:xfrm>
          <a:prstGeom prst="rect">
            <a:avLst/>
          </a:prstGeom>
          <a:noFill/>
          <a:ln/>
        </p:spPr>
        <p:txBody>
          <a:bodyPr wrap="square" lIns="254" tIns="254" rIns="254" bIns="254" rtlCol="0" anchor="ctr"/>
          <a:lstStyle/>
          <a:p>
            <a:pPr marL="0" indent="0" algn="ctr">
              <a:buNone/>
            </a:pPr>
            <a:r>
              <a:rPr lang="en-US" sz="1800" b="1" dirty="0">
                <a:solidFill>
                  <a:srgbClr val="334155"/>
                </a:solidFill>
              </a:rPr>
              <a:t>Lead / lag</a:t>
            </a:r>
            <a:endParaRPr lang="en-US" sz="1800" dirty="0"/>
          </a:p>
          <a:p>
            <a:pPr marL="0" indent="0" algn="ctr">
              <a:buNone/>
            </a:pPr>
            <a:r>
              <a:rPr lang="en-US" sz="1800" b="1" dirty="0">
                <a:solidFill>
                  <a:srgbClr val="334155"/>
                </a:solidFill>
              </a:rPr>
              <a:t>timing</a:t>
            </a:r>
            <a:endParaRPr lang="en-US" sz="1800" dirty="0"/>
          </a:p>
        </p:txBody>
      </p:sp>
      <p:sp>
        <p:nvSpPr>
          <p:cNvPr id="16" name="Shape 14"/>
          <p:cNvSpPr/>
          <p:nvPr/>
        </p:nvSpPr>
        <p:spPr>
          <a:xfrm>
            <a:off x="7635240" y="2971800"/>
            <a:ext cx="0" cy="594360"/>
          </a:xfrm>
          <a:prstGeom prst="line">
            <a:avLst/>
          </a:prstGeom>
          <a:noFill/>
          <a:ln w="25400">
            <a:solidFill>
              <a:srgbClr val="334155"/>
            </a:solidFill>
            <a:prstDash val="solid"/>
            <a:headEnd type="none"/>
            <a:tailEnd type="triangle"/>
          </a:ln>
        </p:spPr>
        <p:txBody>
          <a:bodyPr/>
          <a:lstStyle/>
          <a:p>
            <a:endParaRPr lang="en-ZA"/>
          </a:p>
        </p:txBody>
      </p:sp>
      <p:sp>
        <p:nvSpPr>
          <p:cNvPr id="17" name="Text 15"/>
          <p:cNvSpPr/>
          <p:nvPr/>
        </p:nvSpPr>
        <p:spPr>
          <a:xfrm>
            <a:off x="6492240" y="3730752"/>
            <a:ext cx="2286000" cy="868680"/>
          </a:xfrm>
          <a:prstGeom prst="rect">
            <a:avLst/>
          </a:prstGeom>
          <a:noFill/>
          <a:ln/>
        </p:spPr>
        <p:txBody>
          <a:bodyPr wrap="square" lIns="254" tIns="254" rIns="254" bIns="254" rtlCol="0" anchor="ctr"/>
          <a:lstStyle/>
          <a:p>
            <a:pPr marL="0" indent="0" algn="ctr">
              <a:buNone/>
            </a:pPr>
            <a:r>
              <a:rPr lang="en-US" sz="2000" b="1" dirty="0">
                <a:solidFill>
                  <a:srgbClr val="F59E0B"/>
                </a:solidFill>
              </a:rPr>
              <a:t>Bitcoin returns</a:t>
            </a:r>
            <a:endParaRPr lang="en-US" sz="2000" dirty="0"/>
          </a:p>
          <a:p>
            <a:pPr marL="0" indent="0" algn="ctr">
              <a:buNone/>
            </a:pPr>
            <a:r>
              <a:rPr lang="en-US" sz="2000" b="1" dirty="0">
                <a:solidFill>
                  <a:srgbClr val="F59E0B"/>
                </a:solidFill>
              </a:rPr>
              <a:t>volume</a:t>
            </a:r>
            <a:endParaRPr lang="en-US" sz="2000" dirty="0"/>
          </a:p>
          <a:p>
            <a:pPr marL="0" indent="0" algn="ctr">
              <a:buNone/>
            </a:pPr>
            <a:r>
              <a:rPr lang="en-US" sz="2000" b="1" dirty="0">
                <a:solidFill>
                  <a:srgbClr val="F59E0B"/>
                </a:solidFill>
              </a:rPr>
              <a:t>volatility</a:t>
            </a:r>
            <a:endParaRPr lang="en-US" sz="2000" dirty="0"/>
          </a:p>
        </p:txBody>
      </p:sp>
      <p:sp>
        <p:nvSpPr>
          <p:cNvPr id="18" name="Shape 16"/>
          <p:cNvSpPr/>
          <p:nvPr/>
        </p:nvSpPr>
        <p:spPr>
          <a:xfrm>
            <a:off x="9372600" y="1042416"/>
            <a:ext cx="19202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19" name="Text 17"/>
          <p:cNvSpPr/>
          <p:nvPr/>
        </p:nvSpPr>
        <p:spPr>
          <a:xfrm>
            <a:off x="9500616" y="1170432"/>
            <a:ext cx="1664208" cy="310896"/>
          </a:xfrm>
          <a:prstGeom prst="rect">
            <a:avLst/>
          </a:prstGeom>
          <a:noFill/>
          <a:ln/>
        </p:spPr>
        <p:txBody>
          <a:bodyPr wrap="square" lIns="0" tIns="0" rIns="0" bIns="0" rtlCol="0" anchor="ctr"/>
          <a:lstStyle/>
          <a:p>
            <a:pPr marL="0" indent="0">
              <a:buNone/>
            </a:pPr>
            <a:r>
              <a:rPr lang="en-US" sz="2300" b="1" dirty="0">
                <a:solidFill>
                  <a:srgbClr val="2563EB"/>
                </a:solidFill>
              </a:rPr>
              <a:t>Timing</a:t>
            </a:r>
            <a:endParaRPr lang="en-US" sz="2300" dirty="0"/>
          </a:p>
        </p:txBody>
      </p:sp>
      <p:sp>
        <p:nvSpPr>
          <p:cNvPr id="20" name="Text 18"/>
          <p:cNvSpPr/>
          <p:nvPr/>
        </p:nvSpPr>
        <p:spPr>
          <a:xfrm>
            <a:off x="9500616" y="1572768"/>
            <a:ext cx="1664208" cy="256032"/>
          </a:xfrm>
          <a:prstGeom prst="rect">
            <a:avLst/>
          </a:prstGeom>
          <a:noFill/>
          <a:ln/>
        </p:spPr>
        <p:txBody>
          <a:bodyPr wrap="square" lIns="0" tIns="0" rIns="0" bIns="0" rtlCol="0" anchor="ctr"/>
          <a:lstStyle/>
          <a:p>
            <a:pPr marL="0" indent="0">
              <a:buNone/>
            </a:pPr>
            <a:r>
              <a:rPr lang="en-US" sz="1150" dirty="0">
                <a:solidFill>
                  <a:srgbClr val="334155"/>
                </a:solidFill>
              </a:rPr>
              <a:t>Tested with cross-correlation</a:t>
            </a:r>
            <a:endParaRPr lang="en-US" sz="1150" dirty="0"/>
          </a:p>
        </p:txBody>
      </p:sp>
      <p:sp>
        <p:nvSpPr>
          <p:cNvPr id="21" name="Shape 19"/>
          <p:cNvSpPr/>
          <p:nvPr/>
        </p:nvSpPr>
        <p:spPr>
          <a:xfrm>
            <a:off x="9372600" y="2267712"/>
            <a:ext cx="19202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22" name="Text 20"/>
          <p:cNvSpPr/>
          <p:nvPr/>
        </p:nvSpPr>
        <p:spPr>
          <a:xfrm>
            <a:off x="9500616" y="2395728"/>
            <a:ext cx="1664208" cy="310896"/>
          </a:xfrm>
          <a:prstGeom prst="rect">
            <a:avLst/>
          </a:prstGeom>
          <a:noFill/>
          <a:ln/>
        </p:spPr>
        <p:txBody>
          <a:bodyPr wrap="square" lIns="0" tIns="0" rIns="0" bIns="0" rtlCol="0" anchor="ctr"/>
          <a:lstStyle/>
          <a:p>
            <a:pPr marL="0" indent="0">
              <a:buNone/>
            </a:pPr>
            <a:r>
              <a:rPr lang="en-US" sz="2300" b="1" dirty="0">
                <a:solidFill>
                  <a:srgbClr val="10B981"/>
                </a:solidFill>
              </a:rPr>
              <a:t>Prediction</a:t>
            </a:r>
            <a:endParaRPr lang="en-US" sz="2300" dirty="0"/>
          </a:p>
        </p:txBody>
      </p:sp>
      <p:sp>
        <p:nvSpPr>
          <p:cNvPr id="23" name="Text 21"/>
          <p:cNvSpPr/>
          <p:nvPr/>
        </p:nvSpPr>
        <p:spPr>
          <a:xfrm>
            <a:off x="9500616" y="2798064"/>
            <a:ext cx="1664208" cy="256032"/>
          </a:xfrm>
          <a:prstGeom prst="rect">
            <a:avLst/>
          </a:prstGeom>
          <a:noFill/>
          <a:ln/>
        </p:spPr>
        <p:txBody>
          <a:bodyPr wrap="square" lIns="0" tIns="0" rIns="0" bIns="0" rtlCol="0" anchor="ctr"/>
          <a:lstStyle/>
          <a:p>
            <a:pPr marL="0" indent="0">
              <a:buNone/>
            </a:pPr>
            <a:r>
              <a:rPr lang="en-US" sz="1150" dirty="0">
                <a:solidFill>
                  <a:srgbClr val="334155"/>
                </a:solidFill>
              </a:rPr>
              <a:t>Tested with Granger</a:t>
            </a:r>
            <a:endParaRPr lang="en-US" sz="1150" dirty="0"/>
          </a:p>
        </p:txBody>
      </p:sp>
      <p:sp>
        <p:nvSpPr>
          <p:cNvPr id="24" name="Shape 22"/>
          <p:cNvSpPr/>
          <p:nvPr/>
        </p:nvSpPr>
        <p:spPr>
          <a:xfrm>
            <a:off x="9372600" y="3493008"/>
            <a:ext cx="19202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25" name="Text 23"/>
          <p:cNvSpPr/>
          <p:nvPr/>
        </p:nvSpPr>
        <p:spPr>
          <a:xfrm>
            <a:off x="9500616" y="3621024"/>
            <a:ext cx="1664208" cy="310896"/>
          </a:xfrm>
          <a:prstGeom prst="rect">
            <a:avLst/>
          </a:prstGeom>
          <a:noFill/>
          <a:ln/>
        </p:spPr>
        <p:txBody>
          <a:bodyPr wrap="square" lIns="0" tIns="0" rIns="0" bIns="0" rtlCol="0" anchor="ctr"/>
          <a:lstStyle/>
          <a:p>
            <a:pPr marL="0" indent="0">
              <a:buNone/>
            </a:pPr>
            <a:r>
              <a:rPr lang="en-US" sz="2300" b="1" dirty="0">
                <a:solidFill>
                  <a:srgbClr val="F59E0B"/>
                </a:solidFill>
              </a:rPr>
              <a:t>Usefulness</a:t>
            </a:r>
            <a:endParaRPr lang="en-US" sz="2300" dirty="0"/>
          </a:p>
        </p:txBody>
      </p:sp>
      <p:sp>
        <p:nvSpPr>
          <p:cNvPr id="26" name="Text 24"/>
          <p:cNvSpPr/>
          <p:nvPr/>
        </p:nvSpPr>
        <p:spPr>
          <a:xfrm>
            <a:off x="9500616" y="4023360"/>
            <a:ext cx="1664208" cy="256032"/>
          </a:xfrm>
          <a:prstGeom prst="rect">
            <a:avLst/>
          </a:prstGeom>
          <a:noFill/>
          <a:ln/>
        </p:spPr>
        <p:txBody>
          <a:bodyPr wrap="square" lIns="0" tIns="0" rIns="0" bIns="0" rtlCol="0" anchor="ctr"/>
          <a:lstStyle/>
          <a:p>
            <a:pPr marL="0" indent="0">
              <a:buNone/>
            </a:pPr>
            <a:r>
              <a:rPr lang="en-US" sz="1150" dirty="0">
                <a:solidFill>
                  <a:srgbClr val="334155"/>
                </a:solidFill>
              </a:rPr>
              <a:t>Tested with RF + GARCH</a:t>
            </a:r>
            <a:endParaRPr lang="en-US" sz="1150" dirty="0"/>
          </a:p>
        </p:txBody>
      </p:sp>
      <p:sp>
        <p:nvSpPr>
          <p:cNvPr id="27" name="Text 25"/>
          <p:cNvSpPr/>
          <p:nvPr/>
        </p:nvSpPr>
        <p:spPr>
          <a:xfrm>
            <a:off x="685800" y="5989321"/>
            <a:ext cx="10469880" cy="393192"/>
          </a:xfrm>
          <a:prstGeom prst="rect">
            <a:avLst/>
          </a:prstGeom>
          <a:noFill/>
          <a:ln/>
        </p:spPr>
        <p:txBody>
          <a:bodyPr wrap="square" lIns="0" tIns="0" rIns="0" bIns="0" rtlCol="0" anchor="ctr"/>
          <a:lstStyle/>
          <a:p>
            <a:pPr marL="0" indent="0">
              <a:buNone/>
            </a:pPr>
            <a:r>
              <a:rPr lang="en-US" sz="1700" dirty="0">
                <a:solidFill>
                  <a:srgbClr val="334155"/>
                </a:solidFill>
              </a:rPr>
              <a:t>Interpretation principle: Granger causality is predictive causality, not proof of economic causation.</a:t>
            </a:r>
            <a:endParaRPr lang="en-US" sz="1700" dirty="0"/>
          </a:p>
        </p:txBody>
      </p:sp>
      <p:sp>
        <p:nvSpPr>
          <p:cNvPr id="28" name="Shape 26"/>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29" name="Text 27"/>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30" name="Text 28"/>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2/12</a:t>
            </a:r>
            <a:endParaRPr lang="en-US" sz="750" dirty="0"/>
          </a:p>
        </p:txBody>
      </p:sp>
      <p:sp>
        <p:nvSpPr>
          <p:cNvPr id="32" name="Shape 8">
            <a:extLst>
              <a:ext uri="{FF2B5EF4-FFF2-40B4-BE49-F238E27FC236}">
                <a16:creationId xmlns:a16="http://schemas.microsoft.com/office/drawing/2014/main" id="{80A1F203-B4D6-3825-9AEA-180BC79D3AB9}"/>
              </a:ext>
            </a:extLst>
          </p:cNvPr>
          <p:cNvSpPr/>
          <p:nvPr/>
        </p:nvSpPr>
        <p:spPr>
          <a:xfrm>
            <a:off x="2217420" y="4210812"/>
            <a:ext cx="2766060" cy="1613916"/>
          </a:xfrm>
          <a:prstGeom prst="roundRect">
            <a:avLst>
              <a:gd name="adj" fmla="val 7143"/>
            </a:avLst>
          </a:prstGeom>
          <a:solidFill>
            <a:srgbClr val="FFFFFF"/>
          </a:solidFill>
          <a:ln w="12700">
            <a:solidFill>
              <a:srgbClr val="CBD5E1"/>
            </a:solidFill>
            <a:prstDash val="solid"/>
          </a:ln>
          <a:effectLst>
            <a:outerShdw blurRad="12700" dist="12700" dir="2700000" algn="bl" rotWithShape="0">
              <a:srgbClr val="000000">
                <a:alpha val="7000"/>
              </a:srgbClr>
            </a:outerShdw>
          </a:effectLst>
        </p:spPr>
        <p:txBody>
          <a:bodyPr/>
          <a:lstStyle/>
          <a:p>
            <a:pPr algn="ctr"/>
            <a:r>
              <a:rPr lang="en-ZA" sz="1200" b="1" dirty="0">
                <a:solidFill>
                  <a:srgbClr val="002060"/>
                </a:solidFill>
              </a:rPr>
              <a:t>Hypotheses tested across four dimensions:</a:t>
            </a:r>
          </a:p>
          <a:p>
            <a:r>
              <a:rPr lang="en-ZA" sz="1200" dirty="0"/>
              <a:t>• Lead–lag timing (Cross-correlation)</a:t>
            </a:r>
          </a:p>
          <a:p>
            <a:r>
              <a:rPr lang="en-ZA" sz="1200" dirty="0"/>
              <a:t>• Predictive causality (Granger)</a:t>
            </a:r>
          </a:p>
          <a:p>
            <a:r>
              <a:rPr lang="en-ZA" sz="1200" dirty="0"/>
              <a:t>• Forecasting performance (Random Forest)</a:t>
            </a:r>
          </a:p>
          <a:p>
            <a:r>
              <a:rPr lang="en-ZA" sz="1200" dirty="0"/>
              <a:t>• Volatility explanation (GARCH)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Data sources and variable construction</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Data</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Text 3"/>
          <p:cNvSpPr/>
          <p:nvPr/>
        </p:nvSpPr>
        <p:spPr>
          <a:xfrm>
            <a:off x="685800" y="1024128"/>
            <a:ext cx="8961120" cy="320040"/>
          </a:xfrm>
          <a:prstGeom prst="rect">
            <a:avLst/>
          </a:prstGeom>
          <a:noFill/>
          <a:ln/>
        </p:spPr>
        <p:txBody>
          <a:bodyPr wrap="square" lIns="0" tIns="0" rIns="0" bIns="0" rtlCol="0" anchor="ctr"/>
          <a:lstStyle/>
          <a:p>
            <a:pPr marL="0" indent="0">
              <a:buNone/>
            </a:pPr>
            <a:r>
              <a:rPr lang="en-US" sz="1800" dirty="0">
                <a:solidFill>
                  <a:srgbClr val="334155"/>
                </a:solidFill>
              </a:rPr>
              <a:t>Daily BTC-USD data were aggregated to match weekly Google Trends frequency.</a:t>
            </a:r>
            <a:endParaRPr lang="en-US" sz="1800" dirty="0"/>
          </a:p>
        </p:txBody>
      </p:sp>
      <p:sp>
        <p:nvSpPr>
          <p:cNvPr id="6" name="Shape 4"/>
          <p:cNvSpPr/>
          <p:nvPr/>
        </p:nvSpPr>
        <p:spPr>
          <a:xfrm>
            <a:off x="777240" y="1874520"/>
            <a:ext cx="2240280" cy="1115568"/>
          </a:xfrm>
          <a:prstGeom prst="roundRect">
            <a:avLst>
              <a:gd name="adj" fmla="val 6557"/>
            </a:avLst>
          </a:prstGeom>
          <a:solidFill>
            <a:srgbClr val="FFFFFF"/>
          </a:solidFill>
          <a:ln w="12700">
            <a:solidFill>
              <a:srgbClr val="CBD5E1"/>
            </a:solidFill>
            <a:prstDash val="solid"/>
          </a:ln>
          <a:effectLst>
            <a:outerShdw blurRad="12700" dist="12700" dir="2700000" algn="bl" rotWithShape="0">
              <a:srgbClr val="000000">
                <a:alpha val="6000"/>
              </a:srgbClr>
            </a:outerShdw>
          </a:effectLst>
        </p:spPr>
        <p:txBody>
          <a:bodyPr/>
          <a:lstStyle/>
          <a:p>
            <a:endParaRPr lang="en-ZA"/>
          </a:p>
        </p:txBody>
      </p:sp>
      <p:sp>
        <p:nvSpPr>
          <p:cNvPr id="7" name="Text 5"/>
          <p:cNvSpPr/>
          <p:nvPr/>
        </p:nvSpPr>
        <p:spPr>
          <a:xfrm>
            <a:off x="923544" y="2011680"/>
            <a:ext cx="1920240" cy="228600"/>
          </a:xfrm>
          <a:prstGeom prst="rect">
            <a:avLst/>
          </a:prstGeom>
          <a:noFill/>
          <a:ln/>
        </p:spPr>
        <p:txBody>
          <a:bodyPr wrap="square" lIns="0" tIns="0" rIns="0" bIns="0" rtlCol="0" anchor="ctr"/>
          <a:lstStyle/>
          <a:p>
            <a:pPr marL="0" indent="0">
              <a:buNone/>
            </a:pPr>
            <a:r>
              <a:rPr lang="en-US" sz="1500" b="1" dirty="0">
                <a:solidFill>
                  <a:srgbClr val="2563EB"/>
                </a:solidFill>
              </a:rPr>
              <a:t>Yahoo Finance</a:t>
            </a:r>
            <a:endParaRPr lang="en-US" sz="1500" dirty="0"/>
          </a:p>
        </p:txBody>
      </p:sp>
      <p:sp>
        <p:nvSpPr>
          <p:cNvPr id="8" name="Text 6"/>
          <p:cNvSpPr/>
          <p:nvPr/>
        </p:nvSpPr>
        <p:spPr>
          <a:xfrm>
            <a:off x="923544" y="2359152"/>
            <a:ext cx="1938528" cy="365760"/>
          </a:xfrm>
          <a:prstGeom prst="rect">
            <a:avLst/>
          </a:prstGeom>
          <a:noFill/>
          <a:ln/>
        </p:spPr>
        <p:txBody>
          <a:bodyPr wrap="square" lIns="0" tIns="0" rIns="0" bIns="0" rtlCol="0" anchor="ctr">
            <a:normAutofit lnSpcReduction="10000"/>
          </a:bodyPr>
          <a:lstStyle/>
          <a:p>
            <a:pPr marL="0" indent="0">
              <a:buNone/>
            </a:pPr>
            <a:r>
              <a:rPr lang="en-US" sz="1280" dirty="0">
                <a:solidFill>
                  <a:srgbClr val="0F172A"/>
                </a:solidFill>
              </a:rPr>
              <a:t>BTC-USD: price, returns, volume</a:t>
            </a:r>
            <a:endParaRPr lang="en-US" sz="1280" dirty="0"/>
          </a:p>
        </p:txBody>
      </p:sp>
      <p:sp>
        <p:nvSpPr>
          <p:cNvPr id="9" name="Shape 7"/>
          <p:cNvSpPr/>
          <p:nvPr/>
        </p:nvSpPr>
        <p:spPr>
          <a:xfrm>
            <a:off x="3017520" y="2423160"/>
            <a:ext cx="502920" cy="0"/>
          </a:xfrm>
          <a:prstGeom prst="line">
            <a:avLst/>
          </a:prstGeom>
          <a:noFill/>
          <a:ln w="19050">
            <a:solidFill>
              <a:srgbClr val="334155"/>
            </a:solidFill>
            <a:prstDash val="solid"/>
            <a:headEnd type="none"/>
            <a:tailEnd type="triangle"/>
          </a:ln>
        </p:spPr>
        <p:txBody>
          <a:bodyPr/>
          <a:lstStyle/>
          <a:p>
            <a:endParaRPr lang="en-ZA"/>
          </a:p>
        </p:txBody>
      </p:sp>
      <p:sp>
        <p:nvSpPr>
          <p:cNvPr id="10" name="Shape 8"/>
          <p:cNvSpPr/>
          <p:nvPr/>
        </p:nvSpPr>
        <p:spPr>
          <a:xfrm>
            <a:off x="3566160" y="1874520"/>
            <a:ext cx="2240280" cy="1115568"/>
          </a:xfrm>
          <a:prstGeom prst="roundRect">
            <a:avLst>
              <a:gd name="adj" fmla="val 6557"/>
            </a:avLst>
          </a:prstGeom>
          <a:solidFill>
            <a:srgbClr val="FFFFFF"/>
          </a:solidFill>
          <a:ln w="12700">
            <a:solidFill>
              <a:srgbClr val="CBD5E1"/>
            </a:solidFill>
            <a:prstDash val="solid"/>
          </a:ln>
          <a:effectLst>
            <a:outerShdw blurRad="12700" dist="12700" dir="2700000" algn="bl" rotWithShape="0">
              <a:srgbClr val="000000">
                <a:alpha val="6000"/>
              </a:srgbClr>
            </a:outerShdw>
          </a:effectLst>
        </p:spPr>
        <p:txBody>
          <a:bodyPr/>
          <a:lstStyle/>
          <a:p>
            <a:endParaRPr lang="en-ZA"/>
          </a:p>
        </p:txBody>
      </p:sp>
      <p:sp>
        <p:nvSpPr>
          <p:cNvPr id="11" name="Text 9"/>
          <p:cNvSpPr/>
          <p:nvPr/>
        </p:nvSpPr>
        <p:spPr>
          <a:xfrm>
            <a:off x="3712464" y="2011680"/>
            <a:ext cx="1920240" cy="228600"/>
          </a:xfrm>
          <a:prstGeom prst="rect">
            <a:avLst/>
          </a:prstGeom>
          <a:noFill/>
          <a:ln/>
        </p:spPr>
        <p:txBody>
          <a:bodyPr wrap="square" lIns="0" tIns="0" rIns="0" bIns="0" rtlCol="0" anchor="ctr"/>
          <a:lstStyle/>
          <a:p>
            <a:pPr marL="0" indent="0">
              <a:buNone/>
            </a:pPr>
            <a:r>
              <a:rPr lang="en-US" sz="1500" b="1" dirty="0">
                <a:solidFill>
                  <a:srgbClr val="2563EB"/>
                </a:solidFill>
              </a:rPr>
              <a:t>Google Trends</a:t>
            </a:r>
            <a:endParaRPr lang="en-US" sz="1500" dirty="0"/>
          </a:p>
        </p:txBody>
      </p:sp>
      <p:sp>
        <p:nvSpPr>
          <p:cNvPr id="12" name="Text 10"/>
          <p:cNvSpPr/>
          <p:nvPr/>
        </p:nvSpPr>
        <p:spPr>
          <a:xfrm>
            <a:off x="3712464" y="2359152"/>
            <a:ext cx="1938528" cy="365760"/>
          </a:xfrm>
          <a:prstGeom prst="rect">
            <a:avLst/>
          </a:prstGeom>
          <a:noFill/>
          <a:ln/>
        </p:spPr>
        <p:txBody>
          <a:bodyPr wrap="square" lIns="0" tIns="0" rIns="0" bIns="0" rtlCol="0" anchor="ctr">
            <a:normAutofit lnSpcReduction="10000"/>
          </a:bodyPr>
          <a:lstStyle/>
          <a:p>
            <a:pPr marL="0" indent="0">
              <a:buNone/>
            </a:pPr>
            <a:r>
              <a:rPr lang="en-US" sz="1280" dirty="0">
                <a:solidFill>
                  <a:srgbClr val="0F172A"/>
                </a:solidFill>
              </a:rPr>
              <a:t>5 search-intensity keywords</a:t>
            </a:r>
            <a:endParaRPr lang="en-US" sz="1280" dirty="0"/>
          </a:p>
        </p:txBody>
      </p:sp>
      <p:sp>
        <p:nvSpPr>
          <p:cNvPr id="13" name="Shape 11"/>
          <p:cNvSpPr/>
          <p:nvPr/>
        </p:nvSpPr>
        <p:spPr>
          <a:xfrm>
            <a:off x="5806440" y="2423160"/>
            <a:ext cx="502920" cy="0"/>
          </a:xfrm>
          <a:prstGeom prst="line">
            <a:avLst/>
          </a:prstGeom>
          <a:noFill/>
          <a:ln w="19050">
            <a:solidFill>
              <a:srgbClr val="334155"/>
            </a:solidFill>
            <a:prstDash val="solid"/>
            <a:headEnd type="none"/>
            <a:tailEnd type="triangle"/>
          </a:ln>
        </p:spPr>
        <p:txBody>
          <a:bodyPr/>
          <a:lstStyle/>
          <a:p>
            <a:endParaRPr lang="en-ZA"/>
          </a:p>
        </p:txBody>
      </p:sp>
      <p:sp>
        <p:nvSpPr>
          <p:cNvPr id="14" name="Shape 12"/>
          <p:cNvSpPr/>
          <p:nvPr/>
        </p:nvSpPr>
        <p:spPr>
          <a:xfrm>
            <a:off x="6355080" y="1874520"/>
            <a:ext cx="2240280" cy="1115568"/>
          </a:xfrm>
          <a:prstGeom prst="roundRect">
            <a:avLst>
              <a:gd name="adj" fmla="val 6557"/>
            </a:avLst>
          </a:prstGeom>
          <a:solidFill>
            <a:srgbClr val="FFFFFF"/>
          </a:solidFill>
          <a:ln w="12700">
            <a:solidFill>
              <a:srgbClr val="CBD5E1"/>
            </a:solidFill>
            <a:prstDash val="solid"/>
          </a:ln>
          <a:effectLst>
            <a:outerShdw blurRad="12700" dist="12700" dir="2700000" algn="bl" rotWithShape="0">
              <a:srgbClr val="000000">
                <a:alpha val="6000"/>
              </a:srgbClr>
            </a:outerShdw>
          </a:effectLst>
        </p:spPr>
        <p:txBody>
          <a:bodyPr/>
          <a:lstStyle/>
          <a:p>
            <a:endParaRPr lang="en-ZA"/>
          </a:p>
        </p:txBody>
      </p:sp>
      <p:sp>
        <p:nvSpPr>
          <p:cNvPr id="15" name="Text 13"/>
          <p:cNvSpPr/>
          <p:nvPr/>
        </p:nvSpPr>
        <p:spPr>
          <a:xfrm>
            <a:off x="6501384" y="2011680"/>
            <a:ext cx="1920240" cy="228600"/>
          </a:xfrm>
          <a:prstGeom prst="rect">
            <a:avLst/>
          </a:prstGeom>
          <a:noFill/>
          <a:ln/>
        </p:spPr>
        <p:txBody>
          <a:bodyPr wrap="square" lIns="0" tIns="0" rIns="0" bIns="0" rtlCol="0" anchor="ctr"/>
          <a:lstStyle/>
          <a:p>
            <a:pPr marL="0" indent="0">
              <a:buNone/>
            </a:pPr>
            <a:r>
              <a:rPr lang="en-US" sz="1500" b="1" dirty="0">
                <a:solidFill>
                  <a:srgbClr val="2563EB"/>
                </a:solidFill>
              </a:rPr>
              <a:t>Weekly alignment</a:t>
            </a:r>
            <a:endParaRPr lang="en-US" sz="1500" dirty="0"/>
          </a:p>
        </p:txBody>
      </p:sp>
      <p:sp>
        <p:nvSpPr>
          <p:cNvPr id="16" name="Text 14"/>
          <p:cNvSpPr/>
          <p:nvPr/>
        </p:nvSpPr>
        <p:spPr>
          <a:xfrm>
            <a:off x="6501384" y="2359152"/>
            <a:ext cx="1938528" cy="365760"/>
          </a:xfrm>
          <a:prstGeom prst="rect">
            <a:avLst/>
          </a:prstGeom>
          <a:noFill/>
          <a:ln/>
        </p:spPr>
        <p:txBody>
          <a:bodyPr wrap="square" lIns="0" tIns="0" rIns="0" bIns="0" rtlCol="0" anchor="ctr">
            <a:normAutofit/>
          </a:bodyPr>
          <a:lstStyle/>
          <a:p>
            <a:pPr marL="0" indent="0">
              <a:buNone/>
            </a:pPr>
            <a:r>
              <a:rPr lang="en-US" sz="1280" dirty="0">
                <a:solidFill>
                  <a:srgbClr val="0F172A"/>
                </a:solidFill>
              </a:rPr>
              <a:t>Sunday endpoint; inner join</a:t>
            </a:r>
            <a:endParaRPr lang="en-US" sz="1280" dirty="0"/>
          </a:p>
        </p:txBody>
      </p:sp>
      <p:sp>
        <p:nvSpPr>
          <p:cNvPr id="17" name="Shape 15"/>
          <p:cNvSpPr/>
          <p:nvPr/>
        </p:nvSpPr>
        <p:spPr>
          <a:xfrm>
            <a:off x="8595360" y="2423160"/>
            <a:ext cx="502920" cy="0"/>
          </a:xfrm>
          <a:prstGeom prst="line">
            <a:avLst/>
          </a:prstGeom>
          <a:noFill/>
          <a:ln w="19050">
            <a:solidFill>
              <a:srgbClr val="334155"/>
            </a:solidFill>
            <a:prstDash val="solid"/>
            <a:headEnd type="none"/>
            <a:tailEnd type="triangle"/>
          </a:ln>
        </p:spPr>
        <p:txBody>
          <a:bodyPr/>
          <a:lstStyle/>
          <a:p>
            <a:endParaRPr lang="en-ZA"/>
          </a:p>
        </p:txBody>
      </p:sp>
      <p:sp>
        <p:nvSpPr>
          <p:cNvPr id="18" name="Shape 16"/>
          <p:cNvSpPr/>
          <p:nvPr/>
        </p:nvSpPr>
        <p:spPr>
          <a:xfrm>
            <a:off x="9144000" y="1874520"/>
            <a:ext cx="2240280" cy="1115568"/>
          </a:xfrm>
          <a:prstGeom prst="roundRect">
            <a:avLst>
              <a:gd name="adj" fmla="val 6557"/>
            </a:avLst>
          </a:prstGeom>
          <a:solidFill>
            <a:srgbClr val="FFFFFF"/>
          </a:solidFill>
          <a:ln w="12700">
            <a:solidFill>
              <a:srgbClr val="CBD5E1"/>
            </a:solidFill>
            <a:prstDash val="solid"/>
          </a:ln>
          <a:effectLst>
            <a:outerShdw blurRad="12700" dist="12700" dir="2700000" algn="bl" rotWithShape="0">
              <a:srgbClr val="000000">
                <a:alpha val="6000"/>
              </a:srgbClr>
            </a:outerShdw>
          </a:effectLst>
        </p:spPr>
        <p:txBody>
          <a:bodyPr/>
          <a:lstStyle/>
          <a:p>
            <a:endParaRPr lang="en-ZA"/>
          </a:p>
        </p:txBody>
      </p:sp>
      <p:sp>
        <p:nvSpPr>
          <p:cNvPr id="19" name="Text 17"/>
          <p:cNvSpPr/>
          <p:nvPr/>
        </p:nvSpPr>
        <p:spPr>
          <a:xfrm>
            <a:off x="9290304" y="2011680"/>
            <a:ext cx="1920240" cy="228600"/>
          </a:xfrm>
          <a:prstGeom prst="rect">
            <a:avLst/>
          </a:prstGeom>
          <a:noFill/>
          <a:ln/>
        </p:spPr>
        <p:txBody>
          <a:bodyPr wrap="square" lIns="0" tIns="0" rIns="0" bIns="0" rtlCol="0" anchor="ctr"/>
          <a:lstStyle/>
          <a:p>
            <a:pPr marL="0" indent="0">
              <a:buNone/>
            </a:pPr>
            <a:r>
              <a:rPr lang="en-US" sz="1500" b="1" dirty="0">
                <a:solidFill>
                  <a:srgbClr val="2563EB"/>
                </a:solidFill>
              </a:rPr>
              <a:t>Model-ready data</a:t>
            </a:r>
            <a:endParaRPr lang="en-US" sz="1500" dirty="0"/>
          </a:p>
        </p:txBody>
      </p:sp>
      <p:sp>
        <p:nvSpPr>
          <p:cNvPr id="20" name="Text 18"/>
          <p:cNvSpPr/>
          <p:nvPr/>
        </p:nvSpPr>
        <p:spPr>
          <a:xfrm>
            <a:off x="9290304" y="2359152"/>
            <a:ext cx="1938528" cy="365760"/>
          </a:xfrm>
          <a:prstGeom prst="rect">
            <a:avLst/>
          </a:prstGeom>
          <a:noFill/>
          <a:ln/>
        </p:spPr>
        <p:txBody>
          <a:bodyPr wrap="square" lIns="0" tIns="0" rIns="0" bIns="0" rtlCol="0" anchor="ctr">
            <a:normAutofit lnSpcReduction="10000"/>
          </a:bodyPr>
          <a:lstStyle/>
          <a:p>
            <a:pPr marL="0" indent="0">
              <a:buNone/>
            </a:pPr>
            <a:r>
              <a:rPr lang="en-US" sz="1280" dirty="0">
                <a:solidFill>
                  <a:srgbClr val="0F172A"/>
                </a:solidFill>
              </a:rPr>
              <a:t>51 weekly observations; no missing values</a:t>
            </a:r>
            <a:endParaRPr lang="en-US" sz="1280" dirty="0"/>
          </a:p>
        </p:txBody>
      </p:sp>
      <p:sp>
        <p:nvSpPr>
          <p:cNvPr id="21" name="Shape 19"/>
          <p:cNvSpPr/>
          <p:nvPr/>
        </p:nvSpPr>
        <p:spPr>
          <a:xfrm>
            <a:off x="777240" y="3474721"/>
            <a:ext cx="5303520" cy="2862070"/>
          </a:xfrm>
          <a:prstGeom prst="roundRect">
            <a:avLst>
              <a:gd name="adj" fmla="val 3200"/>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pic>
        <p:nvPicPr>
          <p:cNvPr id="22" name="Image 0" descr="/mnt/data/notebook_figures/cell23_out03.png"/>
          <p:cNvPicPr>
            <a:picLocks noChangeAspect="1"/>
          </p:cNvPicPr>
          <p:nvPr/>
        </p:nvPicPr>
        <p:blipFill>
          <a:blip r:embed="rId3"/>
          <a:stretch>
            <a:fillRect/>
          </a:stretch>
        </p:blipFill>
        <p:spPr>
          <a:xfrm>
            <a:off x="1051560" y="3571360"/>
            <a:ext cx="4824404" cy="2595196"/>
          </a:xfrm>
          <a:prstGeom prst="rect">
            <a:avLst/>
          </a:prstGeom>
        </p:spPr>
      </p:pic>
      <p:sp>
        <p:nvSpPr>
          <p:cNvPr id="23" name="Text 20"/>
          <p:cNvSpPr/>
          <p:nvPr/>
        </p:nvSpPr>
        <p:spPr>
          <a:xfrm>
            <a:off x="1060704" y="6143154"/>
            <a:ext cx="5010912" cy="201168"/>
          </a:xfrm>
          <a:prstGeom prst="rect">
            <a:avLst/>
          </a:prstGeom>
          <a:noFill/>
          <a:ln/>
        </p:spPr>
        <p:txBody>
          <a:bodyPr wrap="square" lIns="0" tIns="0" rIns="0" bIns="0" rtlCol="0" anchor="ctr"/>
          <a:lstStyle/>
          <a:p>
            <a:pPr marL="0" indent="0" algn="ctr">
              <a:buNone/>
            </a:pPr>
            <a:r>
              <a:rPr lang="en-US" sz="950" dirty="0">
                <a:solidFill>
                  <a:srgbClr val="64748B"/>
                </a:solidFill>
              </a:rPr>
              <a:t>Weekly Google Trends series</a:t>
            </a:r>
            <a:endParaRPr lang="en-US" sz="950" dirty="0"/>
          </a:p>
        </p:txBody>
      </p:sp>
      <p:sp>
        <p:nvSpPr>
          <p:cNvPr id="24" name="Text 21"/>
          <p:cNvSpPr/>
          <p:nvPr/>
        </p:nvSpPr>
        <p:spPr>
          <a:xfrm>
            <a:off x="6437376" y="3566160"/>
            <a:ext cx="1389888" cy="384048"/>
          </a:xfrm>
          <a:prstGeom prst="rect">
            <a:avLst/>
          </a:prstGeom>
          <a:noFill/>
          <a:ln/>
        </p:spPr>
        <p:txBody>
          <a:bodyPr wrap="square" lIns="0" tIns="0" rIns="0" bIns="0" rtlCol="0" anchor="ctr">
            <a:normAutofit/>
          </a:bodyPr>
          <a:lstStyle/>
          <a:p>
            <a:pPr marL="0" indent="0">
              <a:buNone/>
            </a:pPr>
            <a:r>
              <a:rPr lang="en-US" sz="1180" b="1" dirty="0">
                <a:solidFill>
                  <a:srgbClr val="2563EB"/>
                </a:solidFill>
                <a:latin typeface="Aptos" pitchFamily="34" charset="0"/>
                <a:ea typeface="Aptos" pitchFamily="34" charset="-122"/>
                <a:cs typeface="Aptos" pitchFamily="34" charset="-120"/>
              </a:rPr>
              <a:t>Variable group</a:t>
            </a:r>
            <a:endParaRPr lang="en-US" sz="1180" dirty="0"/>
          </a:p>
        </p:txBody>
      </p:sp>
      <p:sp>
        <p:nvSpPr>
          <p:cNvPr id="25" name="Text 22"/>
          <p:cNvSpPr/>
          <p:nvPr/>
        </p:nvSpPr>
        <p:spPr>
          <a:xfrm>
            <a:off x="7900416" y="3566160"/>
            <a:ext cx="1664208" cy="384048"/>
          </a:xfrm>
          <a:prstGeom prst="rect">
            <a:avLst/>
          </a:prstGeom>
          <a:noFill/>
          <a:ln/>
        </p:spPr>
        <p:txBody>
          <a:bodyPr wrap="square" lIns="0" tIns="0" rIns="0" bIns="0" rtlCol="0" anchor="ctr">
            <a:normAutofit/>
          </a:bodyPr>
          <a:lstStyle/>
          <a:p>
            <a:pPr marL="0" indent="0">
              <a:buNone/>
            </a:pPr>
            <a:r>
              <a:rPr lang="en-US" sz="1180" b="1" dirty="0">
                <a:solidFill>
                  <a:srgbClr val="2563EB"/>
                </a:solidFill>
                <a:latin typeface="Aptos" pitchFamily="34" charset="0"/>
                <a:ea typeface="Aptos" pitchFamily="34" charset="-122"/>
                <a:cs typeface="Aptos" pitchFamily="34" charset="-120"/>
              </a:rPr>
              <a:t>Constructed variable</a:t>
            </a:r>
            <a:endParaRPr lang="en-US" sz="1180" dirty="0"/>
          </a:p>
        </p:txBody>
      </p:sp>
      <p:sp>
        <p:nvSpPr>
          <p:cNvPr id="26" name="Text 23"/>
          <p:cNvSpPr/>
          <p:nvPr/>
        </p:nvSpPr>
        <p:spPr>
          <a:xfrm>
            <a:off x="9637776" y="3566160"/>
            <a:ext cx="1709928" cy="384048"/>
          </a:xfrm>
          <a:prstGeom prst="rect">
            <a:avLst/>
          </a:prstGeom>
          <a:noFill/>
          <a:ln/>
        </p:spPr>
        <p:txBody>
          <a:bodyPr wrap="square" lIns="0" tIns="0" rIns="0" bIns="0" rtlCol="0" anchor="ctr">
            <a:normAutofit/>
          </a:bodyPr>
          <a:lstStyle/>
          <a:p>
            <a:pPr marL="0" indent="0">
              <a:buNone/>
            </a:pPr>
            <a:r>
              <a:rPr lang="en-US" sz="1180" b="1" dirty="0">
                <a:solidFill>
                  <a:srgbClr val="2563EB"/>
                </a:solidFill>
                <a:latin typeface="Aptos" pitchFamily="34" charset="0"/>
                <a:ea typeface="Aptos" pitchFamily="34" charset="-122"/>
                <a:cs typeface="Aptos" pitchFamily="34" charset="-120"/>
              </a:rPr>
              <a:t>Reason</a:t>
            </a:r>
            <a:endParaRPr lang="en-US" sz="1180" dirty="0"/>
          </a:p>
        </p:txBody>
      </p:sp>
      <p:sp>
        <p:nvSpPr>
          <p:cNvPr id="27" name="Shape 24"/>
          <p:cNvSpPr/>
          <p:nvPr/>
        </p:nvSpPr>
        <p:spPr>
          <a:xfrm>
            <a:off x="6400800" y="3959352"/>
            <a:ext cx="4983480" cy="0"/>
          </a:xfrm>
          <a:prstGeom prst="line">
            <a:avLst/>
          </a:prstGeom>
          <a:noFill/>
          <a:ln w="15240">
            <a:solidFill>
              <a:srgbClr val="2563EB"/>
            </a:solidFill>
            <a:prstDash val="solid"/>
          </a:ln>
        </p:spPr>
        <p:txBody>
          <a:bodyPr/>
          <a:lstStyle/>
          <a:p>
            <a:endParaRPr lang="en-ZA"/>
          </a:p>
        </p:txBody>
      </p:sp>
      <p:sp>
        <p:nvSpPr>
          <p:cNvPr id="28" name="Text 25"/>
          <p:cNvSpPr/>
          <p:nvPr/>
        </p:nvSpPr>
        <p:spPr>
          <a:xfrm>
            <a:off x="6437376" y="4023360"/>
            <a:ext cx="138988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Market level</a:t>
            </a:r>
            <a:endParaRPr lang="en-US" sz="1180" dirty="0"/>
          </a:p>
        </p:txBody>
      </p:sp>
      <p:sp>
        <p:nvSpPr>
          <p:cNvPr id="29" name="Text 26"/>
          <p:cNvSpPr/>
          <p:nvPr/>
        </p:nvSpPr>
        <p:spPr>
          <a:xfrm>
            <a:off x="7900416" y="4023360"/>
            <a:ext cx="166420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Weekly closing price</a:t>
            </a:r>
            <a:endParaRPr lang="en-US" sz="1180" dirty="0"/>
          </a:p>
        </p:txBody>
      </p:sp>
      <p:sp>
        <p:nvSpPr>
          <p:cNvPr id="30" name="Text 27"/>
          <p:cNvSpPr/>
          <p:nvPr/>
        </p:nvSpPr>
        <p:spPr>
          <a:xfrm>
            <a:off x="9637776" y="4023360"/>
            <a:ext cx="170992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Identifies market regimes</a:t>
            </a:r>
            <a:endParaRPr lang="en-US" sz="1180" dirty="0"/>
          </a:p>
        </p:txBody>
      </p:sp>
      <p:sp>
        <p:nvSpPr>
          <p:cNvPr id="31" name="Shape 28"/>
          <p:cNvSpPr/>
          <p:nvPr/>
        </p:nvSpPr>
        <p:spPr>
          <a:xfrm>
            <a:off x="6400800" y="4416552"/>
            <a:ext cx="4983480" cy="0"/>
          </a:xfrm>
          <a:prstGeom prst="line">
            <a:avLst/>
          </a:prstGeom>
          <a:noFill/>
          <a:ln w="7620">
            <a:solidFill>
              <a:srgbClr val="E2E8F0"/>
            </a:solidFill>
            <a:prstDash val="solid"/>
          </a:ln>
        </p:spPr>
        <p:txBody>
          <a:bodyPr/>
          <a:lstStyle/>
          <a:p>
            <a:endParaRPr lang="en-ZA"/>
          </a:p>
        </p:txBody>
      </p:sp>
      <p:sp>
        <p:nvSpPr>
          <p:cNvPr id="32" name="Text 29"/>
          <p:cNvSpPr/>
          <p:nvPr/>
        </p:nvSpPr>
        <p:spPr>
          <a:xfrm>
            <a:off x="6437376" y="4480560"/>
            <a:ext cx="138988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Returns</a:t>
            </a:r>
            <a:endParaRPr lang="en-US" sz="1180" dirty="0"/>
          </a:p>
        </p:txBody>
      </p:sp>
      <p:sp>
        <p:nvSpPr>
          <p:cNvPr id="33" name="Text 30"/>
          <p:cNvSpPr/>
          <p:nvPr/>
        </p:nvSpPr>
        <p:spPr>
          <a:xfrm>
            <a:off x="7900416" y="4480560"/>
            <a:ext cx="166420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Simple &amp; log returns</a:t>
            </a:r>
            <a:endParaRPr lang="en-US" sz="1180" dirty="0"/>
          </a:p>
        </p:txBody>
      </p:sp>
      <p:sp>
        <p:nvSpPr>
          <p:cNvPr id="34" name="Text 31"/>
          <p:cNvSpPr/>
          <p:nvPr/>
        </p:nvSpPr>
        <p:spPr>
          <a:xfrm>
            <a:off x="9637776" y="4480560"/>
            <a:ext cx="170992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Captures weekly price movement</a:t>
            </a:r>
            <a:endParaRPr lang="en-US" sz="1180" dirty="0"/>
          </a:p>
        </p:txBody>
      </p:sp>
      <p:sp>
        <p:nvSpPr>
          <p:cNvPr id="35" name="Shape 32"/>
          <p:cNvSpPr/>
          <p:nvPr/>
        </p:nvSpPr>
        <p:spPr>
          <a:xfrm>
            <a:off x="6400800" y="4873752"/>
            <a:ext cx="4983480" cy="0"/>
          </a:xfrm>
          <a:prstGeom prst="line">
            <a:avLst/>
          </a:prstGeom>
          <a:noFill/>
          <a:ln w="7620">
            <a:solidFill>
              <a:srgbClr val="E2E8F0"/>
            </a:solidFill>
            <a:prstDash val="solid"/>
          </a:ln>
        </p:spPr>
        <p:txBody>
          <a:bodyPr/>
          <a:lstStyle/>
          <a:p>
            <a:endParaRPr lang="en-ZA"/>
          </a:p>
        </p:txBody>
      </p:sp>
      <p:sp>
        <p:nvSpPr>
          <p:cNvPr id="36" name="Text 33"/>
          <p:cNvSpPr/>
          <p:nvPr/>
        </p:nvSpPr>
        <p:spPr>
          <a:xfrm>
            <a:off x="6437376" y="4937760"/>
            <a:ext cx="138988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Activity</a:t>
            </a:r>
            <a:endParaRPr lang="en-US" sz="1180" dirty="0"/>
          </a:p>
        </p:txBody>
      </p:sp>
      <p:sp>
        <p:nvSpPr>
          <p:cNvPr id="37" name="Text 34"/>
          <p:cNvSpPr/>
          <p:nvPr/>
        </p:nvSpPr>
        <p:spPr>
          <a:xfrm>
            <a:off x="7900416" y="4937760"/>
            <a:ext cx="166420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Weekly total volume</a:t>
            </a:r>
            <a:endParaRPr lang="en-US" sz="1180" dirty="0"/>
          </a:p>
        </p:txBody>
      </p:sp>
      <p:sp>
        <p:nvSpPr>
          <p:cNvPr id="38" name="Text 35"/>
          <p:cNvSpPr/>
          <p:nvPr/>
        </p:nvSpPr>
        <p:spPr>
          <a:xfrm>
            <a:off x="9637776" y="4937760"/>
            <a:ext cx="170992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Measures participation / intensity</a:t>
            </a:r>
            <a:endParaRPr lang="en-US" sz="1180" dirty="0"/>
          </a:p>
        </p:txBody>
      </p:sp>
      <p:sp>
        <p:nvSpPr>
          <p:cNvPr id="39" name="Shape 36"/>
          <p:cNvSpPr/>
          <p:nvPr/>
        </p:nvSpPr>
        <p:spPr>
          <a:xfrm>
            <a:off x="6400800" y="5330952"/>
            <a:ext cx="4983480" cy="0"/>
          </a:xfrm>
          <a:prstGeom prst="line">
            <a:avLst/>
          </a:prstGeom>
          <a:noFill/>
          <a:ln w="7620">
            <a:solidFill>
              <a:srgbClr val="E2E8F0"/>
            </a:solidFill>
            <a:prstDash val="solid"/>
          </a:ln>
        </p:spPr>
        <p:txBody>
          <a:bodyPr/>
          <a:lstStyle/>
          <a:p>
            <a:endParaRPr lang="en-ZA"/>
          </a:p>
        </p:txBody>
      </p:sp>
      <p:sp>
        <p:nvSpPr>
          <p:cNvPr id="40" name="Text 37"/>
          <p:cNvSpPr/>
          <p:nvPr/>
        </p:nvSpPr>
        <p:spPr>
          <a:xfrm>
            <a:off x="6437376" y="5394960"/>
            <a:ext cx="138988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Attention</a:t>
            </a:r>
            <a:endParaRPr lang="en-US" sz="1180" dirty="0"/>
          </a:p>
        </p:txBody>
      </p:sp>
      <p:sp>
        <p:nvSpPr>
          <p:cNvPr id="41" name="Text 38"/>
          <p:cNvSpPr/>
          <p:nvPr/>
        </p:nvSpPr>
        <p:spPr>
          <a:xfrm>
            <a:off x="7900416" y="5394960"/>
            <a:ext cx="166420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5 weekly search indices</a:t>
            </a:r>
            <a:endParaRPr lang="en-US" sz="1180" dirty="0"/>
          </a:p>
        </p:txBody>
      </p:sp>
      <p:sp>
        <p:nvSpPr>
          <p:cNvPr id="42" name="Text 39"/>
          <p:cNvSpPr/>
          <p:nvPr/>
        </p:nvSpPr>
        <p:spPr>
          <a:xfrm>
            <a:off x="9637776" y="5394960"/>
            <a:ext cx="1709928" cy="384048"/>
          </a:xfrm>
          <a:prstGeom prst="rect">
            <a:avLst/>
          </a:prstGeom>
          <a:noFill/>
          <a:ln/>
        </p:spPr>
        <p:txBody>
          <a:bodyPr wrap="square" lIns="0" tIns="0" rIns="0" bIns="0" rtlCol="0" anchor="ctr">
            <a:normAutofit/>
          </a:bodyPr>
          <a:lstStyle/>
          <a:p>
            <a:pPr marL="0" indent="0">
              <a:buNone/>
            </a:pPr>
            <a:r>
              <a:rPr lang="en-US" sz="1180" dirty="0">
                <a:solidFill>
                  <a:srgbClr val="0F172A"/>
                </a:solidFill>
                <a:latin typeface="Aptos" pitchFamily="34" charset="0"/>
                <a:ea typeface="Aptos" pitchFamily="34" charset="-122"/>
                <a:cs typeface="Aptos" pitchFamily="34" charset="-120"/>
              </a:rPr>
              <a:t>Proxy for internet attention</a:t>
            </a:r>
            <a:endParaRPr lang="en-US" sz="1180" dirty="0"/>
          </a:p>
        </p:txBody>
      </p:sp>
      <p:sp>
        <p:nvSpPr>
          <p:cNvPr id="43" name="Shape 40"/>
          <p:cNvSpPr/>
          <p:nvPr/>
        </p:nvSpPr>
        <p:spPr>
          <a:xfrm>
            <a:off x="6400800" y="5788152"/>
            <a:ext cx="4983480" cy="0"/>
          </a:xfrm>
          <a:prstGeom prst="line">
            <a:avLst/>
          </a:prstGeom>
          <a:noFill/>
          <a:ln w="7620">
            <a:solidFill>
              <a:srgbClr val="E2E8F0"/>
            </a:solidFill>
            <a:prstDash val="solid"/>
          </a:ln>
        </p:spPr>
        <p:txBody>
          <a:bodyPr/>
          <a:lstStyle/>
          <a:p>
            <a:endParaRPr lang="en-ZA"/>
          </a:p>
        </p:txBody>
      </p:sp>
      <p:sp>
        <p:nvSpPr>
          <p:cNvPr id="44" name="Shape 41"/>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45" name="Text 42"/>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46" name="Text 43"/>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3/12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19" y="-23600"/>
            <a:ext cx="9214821" cy="893041"/>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Google Trends keywords capture different investor behaviours</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Keyword rationale</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Text 3"/>
          <p:cNvSpPr/>
          <p:nvPr/>
        </p:nvSpPr>
        <p:spPr>
          <a:xfrm>
            <a:off x="685800" y="960120"/>
            <a:ext cx="10515600" cy="384048"/>
          </a:xfrm>
          <a:prstGeom prst="rect">
            <a:avLst/>
          </a:prstGeom>
          <a:noFill/>
          <a:ln/>
        </p:spPr>
        <p:txBody>
          <a:bodyPr wrap="square" lIns="0" tIns="0" rIns="0" bIns="0" rtlCol="0" anchor="ctr"/>
          <a:lstStyle/>
          <a:p>
            <a:pPr marL="0" indent="0">
              <a:buNone/>
            </a:pPr>
            <a:r>
              <a:rPr lang="en-US" sz="1800" dirty="0">
                <a:solidFill>
                  <a:srgbClr val="334155"/>
                </a:solidFill>
              </a:rPr>
              <a:t>The search terms were selected to represent broad attention, price monitoring, news consumption, fear, and purchase intent.</a:t>
            </a:r>
            <a:endParaRPr lang="en-US" sz="1800" dirty="0"/>
          </a:p>
        </p:txBody>
      </p:sp>
      <p:sp>
        <p:nvSpPr>
          <p:cNvPr id="6" name="Text 4"/>
          <p:cNvSpPr/>
          <p:nvPr/>
        </p:nvSpPr>
        <p:spPr>
          <a:xfrm>
            <a:off x="722376" y="1709928"/>
            <a:ext cx="1344168" cy="57454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Keyword</a:t>
            </a:r>
            <a:endParaRPr lang="en-US" sz="1320" dirty="0"/>
          </a:p>
        </p:txBody>
      </p:sp>
      <p:sp>
        <p:nvSpPr>
          <p:cNvPr id="7" name="Text 5"/>
          <p:cNvSpPr/>
          <p:nvPr/>
        </p:nvSpPr>
        <p:spPr>
          <a:xfrm>
            <a:off x="2139696" y="1709928"/>
            <a:ext cx="2167128" cy="57454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Behaviour captured</a:t>
            </a:r>
            <a:endParaRPr lang="en-US" sz="1320" dirty="0"/>
          </a:p>
        </p:txBody>
      </p:sp>
      <p:sp>
        <p:nvSpPr>
          <p:cNvPr id="8" name="Text 6"/>
          <p:cNvSpPr/>
          <p:nvPr/>
        </p:nvSpPr>
        <p:spPr>
          <a:xfrm>
            <a:off x="4379976" y="1709928"/>
            <a:ext cx="2852928" cy="57454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Use in interpretation</a:t>
            </a:r>
            <a:endParaRPr lang="en-US" sz="1320" dirty="0"/>
          </a:p>
        </p:txBody>
      </p:sp>
      <p:sp>
        <p:nvSpPr>
          <p:cNvPr id="9" name="Shape 7"/>
          <p:cNvSpPr/>
          <p:nvPr/>
        </p:nvSpPr>
        <p:spPr>
          <a:xfrm>
            <a:off x="685800" y="2293620"/>
            <a:ext cx="6583680" cy="0"/>
          </a:xfrm>
          <a:prstGeom prst="line">
            <a:avLst/>
          </a:prstGeom>
          <a:noFill/>
          <a:ln w="15240">
            <a:solidFill>
              <a:srgbClr val="2563EB"/>
            </a:solidFill>
            <a:prstDash val="solid"/>
          </a:ln>
        </p:spPr>
        <p:txBody>
          <a:bodyPr/>
          <a:lstStyle/>
          <a:p>
            <a:endParaRPr lang="en-ZA"/>
          </a:p>
        </p:txBody>
      </p:sp>
      <p:sp>
        <p:nvSpPr>
          <p:cNvPr id="10" name="Text 8"/>
          <p:cNvSpPr/>
          <p:nvPr/>
        </p:nvSpPr>
        <p:spPr>
          <a:xfrm>
            <a:off x="722376" y="2357628"/>
            <a:ext cx="134416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Bitcoin</a:t>
            </a:r>
            <a:endParaRPr lang="en-US" sz="1320" dirty="0"/>
          </a:p>
        </p:txBody>
      </p:sp>
      <p:sp>
        <p:nvSpPr>
          <p:cNvPr id="11" name="Text 9"/>
          <p:cNvSpPr/>
          <p:nvPr/>
        </p:nvSpPr>
        <p:spPr>
          <a:xfrm>
            <a:off x="2139696" y="2357628"/>
            <a:ext cx="21671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General public attention</a:t>
            </a:r>
            <a:endParaRPr lang="en-US" sz="1320" dirty="0"/>
          </a:p>
        </p:txBody>
      </p:sp>
      <p:sp>
        <p:nvSpPr>
          <p:cNvPr id="12" name="Text 10"/>
          <p:cNvSpPr/>
          <p:nvPr/>
        </p:nvSpPr>
        <p:spPr>
          <a:xfrm>
            <a:off x="4379976" y="2357628"/>
            <a:ext cx="28529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Broad market engagement</a:t>
            </a:r>
            <a:endParaRPr lang="en-US" sz="1320" dirty="0"/>
          </a:p>
        </p:txBody>
      </p:sp>
      <p:sp>
        <p:nvSpPr>
          <p:cNvPr id="13" name="Shape 11"/>
          <p:cNvSpPr/>
          <p:nvPr/>
        </p:nvSpPr>
        <p:spPr>
          <a:xfrm>
            <a:off x="685800" y="2941320"/>
            <a:ext cx="6583680" cy="0"/>
          </a:xfrm>
          <a:prstGeom prst="line">
            <a:avLst/>
          </a:prstGeom>
          <a:noFill/>
          <a:ln w="7620">
            <a:solidFill>
              <a:srgbClr val="E2E8F0"/>
            </a:solidFill>
            <a:prstDash val="solid"/>
          </a:ln>
        </p:spPr>
        <p:txBody>
          <a:bodyPr/>
          <a:lstStyle/>
          <a:p>
            <a:endParaRPr lang="en-ZA"/>
          </a:p>
        </p:txBody>
      </p:sp>
      <p:sp>
        <p:nvSpPr>
          <p:cNvPr id="14" name="Text 12"/>
          <p:cNvSpPr/>
          <p:nvPr/>
        </p:nvSpPr>
        <p:spPr>
          <a:xfrm>
            <a:off x="722376" y="3005328"/>
            <a:ext cx="134416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BTC Price</a:t>
            </a:r>
            <a:endParaRPr lang="en-US" sz="1320" dirty="0"/>
          </a:p>
        </p:txBody>
      </p:sp>
      <p:sp>
        <p:nvSpPr>
          <p:cNvPr id="15" name="Text 13"/>
          <p:cNvSpPr/>
          <p:nvPr/>
        </p:nvSpPr>
        <p:spPr>
          <a:xfrm>
            <a:off x="2139696" y="3005328"/>
            <a:ext cx="21671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Price-checking / monitoring</a:t>
            </a:r>
            <a:endParaRPr lang="en-US" sz="1320" dirty="0"/>
          </a:p>
        </p:txBody>
      </p:sp>
      <p:sp>
        <p:nvSpPr>
          <p:cNvPr id="16" name="Text 14"/>
          <p:cNvSpPr/>
          <p:nvPr/>
        </p:nvSpPr>
        <p:spPr>
          <a:xfrm>
            <a:off x="4379976" y="3005328"/>
            <a:ext cx="28529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Short-run market tracking</a:t>
            </a:r>
            <a:endParaRPr lang="en-US" sz="1320" dirty="0"/>
          </a:p>
        </p:txBody>
      </p:sp>
      <p:sp>
        <p:nvSpPr>
          <p:cNvPr id="17" name="Shape 15"/>
          <p:cNvSpPr/>
          <p:nvPr/>
        </p:nvSpPr>
        <p:spPr>
          <a:xfrm>
            <a:off x="685800" y="3589020"/>
            <a:ext cx="6583680" cy="0"/>
          </a:xfrm>
          <a:prstGeom prst="line">
            <a:avLst/>
          </a:prstGeom>
          <a:noFill/>
          <a:ln w="7620">
            <a:solidFill>
              <a:srgbClr val="E2E8F0"/>
            </a:solidFill>
            <a:prstDash val="solid"/>
          </a:ln>
        </p:spPr>
        <p:txBody>
          <a:bodyPr/>
          <a:lstStyle/>
          <a:p>
            <a:endParaRPr lang="en-ZA"/>
          </a:p>
        </p:txBody>
      </p:sp>
      <p:sp>
        <p:nvSpPr>
          <p:cNvPr id="18" name="Text 16"/>
          <p:cNvSpPr/>
          <p:nvPr/>
        </p:nvSpPr>
        <p:spPr>
          <a:xfrm>
            <a:off x="722376" y="3653028"/>
            <a:ext cx="134416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Bitcoin News</a:t>
            </a:r>
            <a:endParaRPr lang="en-US" sz="1320" dirty="0"/>
          </a:p>
        </p:txBody>
      </p:sp>
      <p:sp>
        <p:nvSpPr>
          <p:cNvPr id="19" name="Text 17"/>
          <p:cNvSpPr/>
          <p:nvPr/>
        </p:nvSpPr>
        <p:spPr>
          <a:xfrm>
            <a:off x="2139696" y="3653028"/>
            <a:ext cx="21671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Information search</a:t>
            </a:r>
            <a:endParaRPr lang="en-US" sz="1320" dirty="0"/>
          </a:p>
        </p:txBody>
      </p:sp>
      <p:sp>
        <p:nvSpPr>
          <p:cNvPr id="20" name="Text 18"/>
          <p:cNvSpPr/>
          <p:nvPr/>
        </p:nvSpPr>
        <p:spPr>
          <a:xfrm>
            <a:off x="4379976" y="3653028"/>
            <a:ext cx="28529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News-driven attention</a:t>
            </a:r>
            <a:endParaRPr lang="en-US" sz="1320" dirty="0"/>
          </a:p>
        </p:txBody>
      </p:sp>
      <p:sp>
        <p:nvSpPr>
          <p:cNvPr id="21" name="Shape 19"/>
          <p:cNvSpPr/>
          <p:nvPr/>
        </p:nvSpPr>
        <p:spPr>
          <a:xfrm>
            <a:off x="685800" y="4236720"/>
            <a:ext cx="6583680" cy="0"/>
          </a:xfrm>
          <a:prstGeom prst="line">
            <a:avLst/>
          </a:prstGeom>
          <a:noFill/>
          <a:ln w="7620">
            <a:solidFill>
              <a:srgbClr val="E2E8F0"/>
            </a:solidFill>
            <a:prstDash val="solid"/>
          </a:ln>
        </p:spPr>
        <p:txBody>
          <a:bodyPr/>
          <a:lstStyle/>
          <a:p>
            <a:endParaRPr lang="en-ZA"/>
          </a:p>
        </p:txBody>
      </p:sp>
      <p:sp>
        <p:nvSpPr>
          <p:cNvPr id="22" name="Text 20"/>
          <p:cNvSpPr/>
          <p:nvPr/>
        </p:nvSpPr>
        <p:spPr>
          <a:xfrm>
            <a:off x="722376" y="4300728"/>
            <a:ext cx="134416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Crypto Crash</a:t>
            </a:r>
            <a:endParaRPr lang="en-US" sz="1320" dirty="0"/>
          </a:p>
        </p:txBody>
      </p:sp>
      <p:sp>
        <p:nvSpPr>
          <p:cNvPr id="23" name="Text 21"/>
          <p:cNvSpPr/>
          <p:nvPr/>
        </p:nvSpPr>
        <p:spPr>
          <a:xfrm>
            <a:off x="2139696" y="4300728"/>
            <a:ext cx="21671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Fear / uncertainty</a:t>
            </a:r>
            <a:endParaRPr lang="en-US" sz="1320" dirty="0"/>
          </a:p>
        </p:txBody>
      </p:sp>
      <p:sp>
        <p:nvSpPr>
          <p:cNvPr id="24" name="Text 22"/>
          <p:cNvSpPr/>
          <p:nvPr/>
        </p:nvSpPr>
        <p:spPr>
          <a:xfrm>
            <a:off x="4379976" y="4300728"/>
            <a:ext cx="28529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Stress-period attention</a:t>
            </a:r>
            <a:endParaRPr lang="en-US" sz="1320" dirty="0"/>
          </a:p>
        </p:txBody>
      </p:sp>
      <p:sp>
        <p:nvSpPr>
          <p:cNvPr id="25" name="Shape 23"/>
          <p:cNvSpPr/>
          <p:nvPr/>
        </p:nvSpPr>
        <p:spPr>
          <a:xfrm>
            <a:off x="685800" y="4884420"/>
            <a:ext cx="6583680" cy="0"/>
          </a:xfrm>
          <a:prstGeom prst="line">
            <a:avLst/>
          </a:prstGeom>
          <a:noFill/>
          <a:ln w="7620">
            <a:solidFill>
              <a:srgbClr val="E2E8F0"/>
            </a:solidFill>
            <a:prstDash val="solid"/>
          </a:ln>
        </p:spPr>
        <p:txBody>
          <a:bodyPr/>
          <a:lstStyle/>
          <a:p>
            <a:endParaRPr lang="en-ZA"/>
          </a:p>
        </p:txBody>
      </p:sp>
      <p:sp>
        <p:nvSpPr>
          <p:cNvPr id="26" name="Text 24"/>
          <p:cNvSpPr/>
          <p:nvPr/>
        </p:nvSpPr>
        <p:spPr>
          <a:xfrm>
            <a:off x="722376" y="4948428"/>
            <a:ext cx="134416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Buy Bitcoin</a:t>
            </a:r>
            <a:endParaRPr lang="en-US" sz="1320" dirty="0"/>
          </a:p>
        </p:txBody>
      </p:sp>
      <p:sp>
        <p:nvSpPr>
          <p:cNvPr id="27" name="Text 25"/>
          <p:cNvSpPr/>
          <p:nvPr/>
        </p:nvSpPr>
        <p:spPr>
          <a:xfrm>
            <a:off x="2139696" y="4948428"/>
            <a:ext cx="21671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Purchase intent</a:t>
            </a:r>
            <a:endParaRPr lang="en-US" sz="1320" dirty="0"/>
          </a:p>
        </p:txBody>
      </p:sp>
      <p:sp>
        <p:nvSpPr>
          <p:cNvPr id="28" name="Text 26"/>
          <p:cNvSpPr/>
          <p:nvPr/>
        </p:nvSpPr>
        <p:spPr>
          <a:xfrm>
            <a:off x="4379976" y="4948428"/>
            <a:ext cx="2852928" cy="57454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Demand-side interest</a:t>
            </a:r>
            <a:endParaRPr lang="en-US" sz="1320" dirty="0"/>
          </a:p>
        </p:txBody>
      </p:sp>
      <p:sp>
        <p:nvSpPr>
          <p:cNvPr id="29" name="Shape 27"/>
          <p:cNvSpPr/>
          <p:nvPr/>
        </p:nvSpPr>
        <p:spPr>
          <a:xfrm>
            <a:off x="685800" y="5532120"/>
            <a:ext cx="6583680" cy="0"/>
          </a:xfrm>
          <a:prstGeom prst="line">
            <a:avLst/>
          </a:prstGeom>
          <a:noFill/>
          <a:ln w="7620">
            <a:solidFill>
              <a:srgbClr val="E2E8F0"/>
            </a:solidFill>
            <a:prstDash val="solid"/>
          </a:ln>
        </p:spPr>
        <p:txBody>
          <a:bodyPr/>
          <a:lstStyle/>
          <a:p>
            <a:endParaRPr lang="en-ZA"/>
          </a:p>
        </p:txBody>
      </p:sp>
      <p:sp>
        <p:nvSpPr>
          <p:cNvPr id="30" name="Shape 28"/>
          <p:cNvSpPr/>
          <p:nvPr/>
        </p:nvSpPr>
        <p:spPr>
          <a:xfrm>
            <a:off x="7413812" y="1664207"/>
            <a:ext cx="4616823" cy="2956534"/>
          </a:xfrm>
          <a:prstGeom prst="roundRect">
            <a:avLst>
              <a:gd name="adj" fmla="val 3478"/>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pic>
        <p:nvPicPr>
          <p:cNvPr id="31" name="Image 0" descr="/mnt/data/notebook_figures/cell25_out01.png"/>
          <p:cNvPicPr>
            <a:picLocks noChangeAspect="1"/>
          </p:cNvPicPr>
          <p:nvPr/>
        </p:nvPicPr>
        <p:blipFill>
          <a:blip r:embed="rId3"/>
          <a:stretch>
            <a:fillRect/>
          </a:stretch>
        </p:blipFill>
        <p:spPr>
          <a:xfrm>
            <a:off x="7467685" y="1778484"/>
            <a:ext cx="4470306" cy="2540530"/>
          </a:xfrm>
          <a:prstGeom prst="rect">
            <a:avLst/>
          </a:prstGeom>
        </p:spPr>
      </p:pic>
      <p:sp>
        <p:nvSpPr>
          <p:cNvPr id="32" name="Text 29"/>
          <p:cNvSpPr/>
          <p:nvPr/>
        </p:nvSpPr>
        <p:spPr>
          <a:xfrm>
            <a:off x="7875224" y="4356310"/>
            <a:ext cx="3685032" cy="201168"/>
          </a:xfrm>
          <a:prstGeom prst="rect">
            <a:avLst/>
          </a:prstGeom>
          <a:noFill/>
          <a:ln/>
        </p:spPr>
        <p:txBody>
          <a:bodyPr wrap="square" lIns="0" tIns="0" rIns="0" bIns="0" rtlCol="0" anchor="ctr"/>
          <a:lstStyle/>
          <a:p>
            <a:pPr marL="0" indent="0" algn="ctr">
              <a:buNone/>
            </a:pPr>
            <a:r>
              <a:rPr lang="en-US" sz="950" dirty="0">
                <a:solidFill>
                  <a:srgbClr val="64748B"/>
                </a:solidFill>
              </a:rPr>
              <a:t>Normalised market and attention series</a:t>
            </a:r>
            <a:endParaRPr lang="en-US" sz="950" dirty="0"/>
          </a:p>
        </p:txBody>
      </p:sp>
      <p:sp>
        <p:nvSpPr>
          <p:cNvPr id="33" name="Shape 30"/>
          <p:cNvSpPr/>
          <p:nvPr/>
        </p:nvSpPr>
        <p:spPr>
          <a:xfrm>
            <a:off x="7413813" y="4966715"/>
            <a:ext cx="4398979" cy="1161265"/>
          </a:xfrm>
          <a:prstGeom prst="roundRect">
            <a:avLst>
              <a:gd name="adj" fmla="val 10169"/>
            </a:avLst>
          </a:prstGeom>
          <a:solidFill>
            <a:srgbClr val="1E293B"/>
          </a:solidFill>
          <a:ln w="12700">
            <a:solidFill>
              <a:srgbClr val="1E293B">
                <a:alpha val="0"/>
              </a:srgbClr>
            </a:solidFill>
            <a:prstDash val="solid"/>
          </a:ln>
          <a:effectLst>
            <a:outerShdw blurRad="19050" dist="12700" dir="2700000" algn="bl" rotWithShape="0">
              <a:srgbClr val="000000">
                <a:alpha val="15000"/>
              </a:srgbClr>
            </a:outerShdw>
          </a:effectLst>
        </p:spPr>
        <p:txBody>
          <a:bodyPr/>
          <a:lstStyle/>
          <a:p>
            <a:endParaRPr lang="en-ZA"/>
          </a:p>
        </p:txBody>
      </p:sp>
      <p:sp>
        <p:nvSpPr>
          <p:cNvPr id="34" name="Text 31"/>
          <p:cNvSpPr/>
          <p:nvPr/>
        </p:nvSpPr>
        <p:spPr>
          <a:xfrm>
            <a:off x="7729728" y="5131308"/>
            <a:ext cx="3575304" cy="749808"/>
          </a:xfrm>
          <a:prstGeom prst="rect">
            <a:avLst/>
          </a:prstGeom>
          <a:noFill/>
          <a:ln/>
        </p:spPr>
        <p:txBody>
          <a:bodyPr wrap="square" lIns="508" tIns="508" rIns="508" bIns="508" rtlCol="0" anchor="ctr">
            <a:normAutofit fontScale="92500" lnSpcReduction="20000"/>
          </a:bodyPr>
          <a:lstStyle/>
          <a:p>
            <a:pPr marL="0" indent="0" algn="ctr">
              <a:buNone/>
            </a:pPr>
            <a:r>
              <a:rPr lang="en-US" sz="2000" b="1" dirty="0">
                <a:solidFill>
                  <a:srgbClr val="FFFFFF"/>
                </a:solidFill>
              </a:rPr>
              <a:t>Takeaway: attention indicators are behavioural signals, not direct sentiment scores.</a:t>
            </a:r>
            <a:endParaRPr lang="en-US" sz="2000" dirty="0"/>
          </a:p>
        </p:txBody>
      </p:sp>
      <p:sp>
        <p:nvSpPr>
          <p:cNvPr id="35" name="Shape 32"/>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36" name="Text 33"/>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37" name="Text 34"/>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4/12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Exploratory analysis: clear Bitcoin market regimes in 2025</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EDA</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Shape 3"/>
          <p:cNvSpPr/>
          <p:nvPr/>
        </p:nvSpPr>
        <p:spPr>
          <a:xfrm>
            <a:off x="1018031" y="923545"/>
            <a:ext cx="4513191" cy="2759819"/>
          </a:xfrm>
          <a:prstGeom prst="roundRect">
            <a:avLst>
              <a:gd name="adj" fmla="val 3404"/>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grpSp>
        <p:nvGrpSpPr>
          <p:cNvPr id="26" name="Group 25">
            <a:extLst>
              <a:ext uri="{FF2B5EF4-FFF2-40B4-BE49-F238E27FC236}">
                <a16:creationId xmlns:a16="http://schemas.microsoft.com/office/drawing/2014/main" id="{0F428607-9725-799D-EBBD-8A5379F60350}"/>
              </a:ext>
            </a:extLst>
          </p:cNvPr>
          <p:cNvGrpSpPr/>
          <p:nvPr/>
        </p:nvGrpSpPr>
        <p:grpSpPr>
          <a:xfrm>
            <a:off x="1077471" y="1024518"/>
            <a:ext cx="4337297" cy="2655890"/>
            <a:chOff x="1554406" y="1237143"/>
            <a:chExt cx="3473045" cy="2003902"/>
          </a:xfrm>
        </p:grpSpPr>
        <p:pic>
          <p:nvPicPr>
            <p:cNvPr id="6" name="Image 0" descr="/mnt/data/notebook_figures/cell23_out00.png"/>
            <p:cNvPicPr>
              <a:picLocks noChangeAspect="1"/>
            </p:cNvPicPr>
            <p:nvPr/>
          </p:nvPicPr>
          <p:blipFill>
            <a:blip r:embed="rId3"/>
            <a:stretch>
              <a:fillRect/>
            </a:stretch>
          </p:blipFill>
          <p:spPr>
            <a:xfrm>
              <a:off x="1554406" y="1237143"/>
              <a:ext cx="3473045" cy="1840849"/>
            </a:xfrm>
            <a:prstGeom prst="rect">
              <a:avLst/>
            </a:prstGeom>
          </p:spPr>
        </p:pic>
        <p:sp>
          <p:nvSpPr>
            <p:cNvPr id="7" name="Text 4"/>
            <p:cNvSpPr/>
            <p:nvPr/>
          </p:nvSpPr>
          <p:spPr>
            <a:xfrm>
              <a:off x="2681380" y="3039877"/>
              <a:ext cx="1355344" cy="201168"/>
            </a:xfrm>
            <a:prstGeom prst="rect">
              <a:avLst/>
            </a:prstGeom>
            <a:noFill/>
            <a:ln/>
          </p:spPr>
          <p:txBody>
            <a:bodyPr wrap="square" lIns="0" tIns="0" rIns="0" bIns="0" rtlCol="0" anchor="ctr"/>
            <a:lstStyle/>
            <a:p>
              <a:pPr marL="0" indent="0" algn="ctr">
                <a:buNone/>
              </a:pPr>
              <a:r>
                <a:rPr lang="en-US" sz="950" dirty="0">
                  <a:solidFill>
                    <a:srgbClr val="64748B"/>
                  </a:solidFill>
                </a:rPr>
                <a:t>Weekly Bitcoin price</a:t>
              </a:r>
              <a:endParaRPr lang="en-US" sz="950" dirty="0"/>
            </a:p>
          </p:txBody>
        </p:sp>
      </p:grpSp>
      <p:sp>
        <p:nvSpPr>
          <p:cNvPr id="8" name="Shape 5"/>
          <p:cNvSpPr/>
          <p:nvPr/>
        </p:nvSpPr>
        <p:spPr>
          <a:xfrm>
            <a:off x="1018032" y="3714951"/>
            <a:ext cx="4513192" cy="2667562"/>
          </a:xfrm>
          <a:prstGeom prst="roundRect">
            <a:avLst>
              <a:gd name="adj" fmla="val 3404"/>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pic>
        <p:nvPicPr>
          <p:cNvPr id="9" name="Image 1" descr="/mnt/data/notebook_figures/cell23_out02.png"/>
          <p:cNvPicPr>
            <a:picLocks noChangeAspect="1"/>
          </p:cNvPicPr>
          <p:nvPr/>
        </p:nvPicPr>
        <p:blipFill>
          <a:blip r:embed="rId4"/>
          <a:stretch>
            <a:fillRect/>
          </a:stretch>
        </p:blipFill>
        <p:spPr>
          <a:xfrm>
            <a:off x="1031821" y="3783954"/>
            <a:ext cx="4428598" cy="2451865"/>
          </a:xfrm>
          <a:prstGeom prst="rect">
            <a:avLst/>
          </a:prstGeom>
        </p:spPr>
      </p:pic>
      <p:sp>
        <p:nvSpPr>
          <p:cNvPr id="10" name="Text 6"/>
          <p:cNvSpPr/>
          <p:nvPr/>
        </p:nvSpPr>
        <p:spPr>
          <a:xfrm>
            <a:off x="2711555" y="6183014"/>
            <a:ext cx="1239281" cy="201167"/>
          </a:xfrm>
          <a:prstGeom prst="rect">
            <a:avLst/>
          </a:prstGeom>
          <a:noFill/>
          <a:ln/>
        </p:spPr>
        <p:txBody>
          <a:bodyPr wrap="square" lIns="0" tIns="0" rIns="0" bIns="0" rtlCol="0" anchor="ctr"/>
          <a:lstStyle/>
          <a:p>
            <a:pPr marL="0" indent="0" algn="ctr">
              <a:buNone/>
            </a:pPr>
            <a:r>
              <a:rPr lang="en-US" sz="950" dirty="0">
                <a:solidFill>
                  <a:srgbClr val="64748B"/>
                </a:solidFill>
              </a:rPr>
              <a:t>Weekly trading volume</a:t>
            </a:r>
            <a:endParaRPr lang="en-US" sz="950" dirty="0"/>
          </a:p>
        </p:txBody>
      </p:sp>
      <p:sp>
        <p:nvSpPr>
          <p:cNvPr id="11" name="Text 7"/>
          <p:cNvSpPr/>
          <p:nvPr/>
        </p:nvSpPr>
        <p:spPr>
          <a:xfrm>
            <a:off x="6446520" y="1133856"/>
            <a:ext cx="4297680" cy="310896"/>
          </a:xfrm>
          <a:prstGeom prst="rect">
            <a:avLst/>
          </a:prstGeom>
          <a:noFill/>
          <a:ln/>
        </p:spPr>
        <p:txBody>
          <a:bodyPr wrap="square" lIns="0" tIns="0" rIns="0" bIns="0" rtlCol="0" anchor="ctr"/>
          <a:lstStyle/>
          <a:p>
            <a:pPr marL="0" indent="0">
              <a:buNone/>
            </a:pPr>
            <a:r>
              <a:rPr lang="en-US" sz="2200" b="1" dirty="0">
                <a:solidFill>
                  <a:srgbClr val="0F172A"/>
                </a:solidFill>
              </a:rPr>
              <a:t>Visual interpretation</a:t>
            </a:r>
            <a:endParaRPr lang="en-US" sz="2200" dirty="0"/>
          </a:p>
        </p:txBody>
      </p:sp>
      <p:sp>
        <p:nvSpPr>
          <p:cNvPr id="12" name="Text 8"/>
          <p:cNvSpPr/>
          <p:nvPr/>
        </p:nvSpPr>
        <p:spPr>
          <a:xfrm>
            <a:off x="6446520" y="1627632"/>
            <a:ext cx="4937760" cy="2103120"/>
          </a:xfrm>
          <a:prstGeom prst="rect">
            <a:avLst/>
          </a:prstGeom>
          <a:noFill/>
          <a:ln/>
        </p:spPr>
        <p:txBody>
          <a:bodyPr wrap="square" lIns="381" tIns="381" rIns="381" bIns="381" rtlCol="0" anchor="t">
            <a:normAutofit fontScale="85000" lnSpcReduction="20000"/>
          </a:bodyPr>
          <a:lstStyle/>
          <a:p>
            <a:r>
              <a:rPr lang="en-US" sz="1750" dirty="0">
                <a:solidFill>
                  <a:srgbClr val="0F172A"/>
                </a:solidFill>
              </a:rPr>
              <a:t>Price declined early in the year, recovered strongly mid-year, then corrected late-year.
</a:t>
            </a:r>
            <a:endParaRPr lang="en-US" sz="1750" dirty="0"/>
          </a:p>
          <a:p>
            <a:r>
              <a:rPr lang="en-US" sz="1750" dirty="0">
                <a:solidFill>
                  <a:srgbClr val="0F172A"/>
                </a:solidFill>
              </a:rPr>
              <a:t>Returns were volatile and centred around zero, consistent with noisy short-run price movements.
</a:t>
            </a:r>
            <a:endParaRPr lang="en-US" sz="1750" dirty="0"/>
          </a:p>
          <a:p>
            <a:r>
              <a:rPr lang="en-US" sz="1750" dirty="0">
                <a:solidFill>
                  <a:srgbClr val="0F172A"/>
                </a:solidFill>
              </a:rPr>
              <a:t>Volume rose during higher-activity and stress periods, especially mid-to-late year.
</a:t>
            </a:r>
            <a:endParaRPr lang="en-US" sz="1750" dirty="0"/>
          </a:p>
          <a:p>
            <a:r>
              <a:rPr lang="en-US" sz="1750" dirty="0">
                <a:solidFill>
                  <a:srgbClr val="0F172A"/>
                </a:solidFill>
              </a:rPr>
              <a:t>Search attention often rose with, or after, visible market movements.</a:t>
            </a:r>
            <a:endParaRPr lang="en-US" sz="1750" dirty="0"/>
          </a:p>
        </p:txBody>
      </p:sp>
      <p:sp>
        <p:nvSpPr>
          <p:cNvPr id="13" name="Shape 9"/>
          <p:cNvSpPr/>
          <p:nvPr/>
        </p:nvSpPr>
        <p:spPr>
          <a:xfrm>
            <a:off x="6446520" y="4251960"/>
            <a:ext cx="14630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14" name="Text 10"/>
          <p:cNvSpPr/>
          <p:nvPr/>
        </p:nvSpPr>
        <p:spPr>
          <a:xfrm>
            <a:off x="6574536" y="4379976"/>
            <a:ext cx="1207008" cy="310896"/>
          </a:xfrm>
          <a:prstGeom prst="rect">
            <a:avLst/>
          </a:prstGeom>
          <a:noFill/>
          <a:ln/>
        </p:spPr>
        <p:txBody>
          <a:bodyPr wrap="square" lIns="0" tIns="0" rIns="0" bIns="0" rtlCol="0" anchor="ctr"/>
          <a:lstStyle/>
          <a:p>
            <a:pPr marL="0" indent="0">
              <a:buNone/>
            </a:pPr>
            <a:r>
              <a:rPr lang="en-US" sz="2300" b="1" dirty="0">
                <a:solidFill>
                  <a:srgbClr val="2563EB"/>
                </a:solidFill>
              </a:rPr>
              <a:t>51</a:t>
            </a:r>
            <a:endParaRPr lang="en-US" sz="2300" dirty="0"/>
          </a:p>
        </p:txBody>
      </p:sp>
      <p:sp>
        <p:nvSpPr>
          <p:cNvPr id="15" name="Text 11"/>
          <p:cNvSpPr/>
          <p:nvPr/>
        </p:nvSpPr>
        <p:spPr>
          <a:xfrm>
            <a:off x="6574536" y="4782312"/>
            <a:ext cx="1207008" cy="256032"/>
          </a:xfrm>
          <a:prstGeom prst="rect">
            <a:avLst/>
          </a:prstGeom>
          <a:noFill/>
          <a:ln/>
        </p:spPr>
        <p:txBody>
          <a:bodyPr wrap="square" lIns="0" tIns="0" rIns="0" bIns="0" rtlCol="0" anchor="ctr"/>
          <a:lstStyle/>
          <a:p>
            <a:pPr marL="0" indent="0">
              <a:buNone/>
            </a:pPr>
            <a:r>
              <a:rPr lang="en-US" sz="1150" dirty="0">
                <a:solidFill>
                  <a:srgbClr val="334155"/>
                </a:solidFill>
              </a:rPr>
              <a:t>usable merged weeks</a:t>
            </a:r>
            <a:endParaRPr lang="en-US" sz="1150" dirty="0"/>
          </a:p>
        </p:txBody>
      </p:sp>
      <p:sp>
        <p:nvSpPr>
          <p:cNvPr id="16" name="Shape 12"/>
          <p:cNvSpPr/>
          <p:nvPr/>
        </p:nvSpPr>
        <p:spPr>
          <a:xfrm>
            <a:off x="8183880" y="4251960"/>
            <a:ext cx="173736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17" name="Text 13"/>
          <p:cNvSpPr/>
          <p:nvPr/>
        </p:nvSpPr>
        <p:spPr>
          <a:xfrm>
            <a:off x="8311896" y="4379976"/>
            <a:ext cx="1481328" cy="310896"/>
          </a:xfrm>
          <a:prstGeom prst="rect">
            <a:avLst/>
          </a:prstGeom>
          <a:noFill/>
          <a:ln/>
        </p:spPr>
        <p:txBody>
          <a:bodyPr wrap="square" lIns="0" tIns="0" rIns="0" bIns="0" rtlCol="0" anchor="ctr"/>
          <a:lstStyle/>
          <a:p>
            <a:pPr marL="0" indent="0">
              <a:buNone/>
            </a:pPr>
            <a:r>
              <a:rPr lang="en-US" sz="2300" b="1" dirty="0">
                <a:solidFill>
                  <a:srgbClr val="10B981"/>
                </a:solidFill>
              </a:rPr>
              <a:t>0</a:t>
            </a:r>
            <a:endParaRPr lang="en-US" sz="2300" dirty="0"/>
          </a:p>
        </p:txBody>
      </p:sp>
      <p:sp>
        <p:nvSpPr>
          <p:cNvPr id="18" name="Text 14"/>
          <p:cNvSpPr/>
          <p:nvPr/>
        </p:nvSpPr>
        <p:spPr>
          <a:xfrm>
            <a:off x="8311896" y="4782312"/>
            <a:ext cx="1481328" cy="256032"/>
          </a:xfrm>
          <a:prstGeom prst="rect">
            <a:avLst/>
          </a:prstGeom>
          <a:noFill/>
          <a:ln/>
        </p:spPr>
        <p:txBody>
          <a:bodyPr wrap="square" lIns="0" tIns="0" rIns="0" bIns="0" rtlCol="0" anchor="ctr"/>
          <a:lstStyle/>
          <a:p>
            <a:pPr marL="0" indent="0">
              <a:buNone/>
            </a:pPr>
            <a:r>
              <a:rPr lang="en-US" sz="1150" dirty="0">
                <a:solidFill>
                  <a:srgbClr val="334155"/>
                </a:solidFill>
              </a:rPr>
              <a:t>missing values after merge</a:t>
            </a:r>
            <a:endParaRPr lang="en-US" sz="1150" dirty="0"/>
          </a:p>
        </p:txBody>
      </p:sp>
      <p:sp>
        <p:nvSpPr>
          <p:cNvPr id="19" name="Shape 15"/>
          <p:cNvSpPr/>
          <p:nvPr/>
        </p:nvSpPr>
        <p:spPr>
          <a:xfrm>
            <a:off x="10195559" y="4251960"/>
            <a:ext cx="1808181"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20" name="Text 16"/>
          <p:cNvSpPr/>
          <p:nvPr/>
        </p:nvSpPr>
        <p:spPr>
          <a:xfrm>
            <a:off x="10320169" y="4366888"/>
            <a:ext cx="1335024" cy="310896"/>
          </a:xfrm>
          <a:prstGeom prst="rect">
            <a:avLst/>
          </a:prstGeom>
          <a:noFill/>
          <a:ln/>
        </p:spPr>
        <p:txBody>
          <a:bodyPr wrap="square" lIns="0" tIns="0" rIns="0" bIns="0" rtlCol="0" anchor="ctr"/>
          <a:lstStyle/>
          <a:p>
            <a:pPr marL="0" indent="0">
              <a:buNone/>
            </a:pPr>
            <a:r>
              <a:rPr lang="en-US" sz="2300" b="1" dirty="0">
                <a:solidFill>
                  <a:srgbClr val="F59E0B"/>
                </a:solidFill>
              </a:rPr>
              <a:t>Search</a:t>
            </a:r>
            <a:endParaRPr lang="en-US" sz="2300" dirty="0"/>
          </a:p>
        </p:txBody>
      </p:sp>
      <p:sp>
        <p:nvSpPr>
          <p:cNvPr id="21" name="Text 17"/>
          <p:cNvSpPr/>
          <p:nvPr/>
        </p:nvSpPr>
        <p:spPr>
          <a:xfrm>
            <a:off x="10323576" y="4782312"/>
            <a:ext cx="932688" cy="256032"/>
          </a:xfrm>
          <a:prstGeom prst="rect">
            <a:avLst/>
          </a:prstGeom>
          <a:noFill/>
          <a:ln/>
        </p:spPr>
        <p:txBody>
          <a:bodyPr wrap="square" lIns="0" tIns="0" rIns="0" bIns="0" rtlCol="0" anchor="ctr"/>
          <a:lstStyle/>
          <a:p>
            <a:pPr marL="0" indent="0">
              <a:buNone/>
            </a:pPr>
            <a:r>
              <a:rPr lang="en-US" sz="1150" dirty="0">
                <a:solidFill>
                  <a:srgbClr val="334155"/>
                </a:solidFill>
              </a:rPr>
              <a:t>main behavioural proxy</a:t>
            </a:r>
            <a:endParaRPr lang="en-US" sz="1150" dirty="0"/>
          </a:p>
        </p:txBody>
      </p:sp>
      <p:sp>
        <p:nvSpPr>
          <p:cNvPr id="22" name="Text 18"/>
          <p:cNvSpPr/>
          <p:nvPr/>
        </p:nvSpPr>
        <p:spPr>
          <a:xfrm>
            <a:off x="6446520" y="5532120"/>
            <a:ext cx="4937760" cy="457200"/>
          </a:xfrm>
          <a:prstGeom prst="rect">
            <a:avLst/>
          </a:prstGeom>
          <a:noFill/>
          <a:ln/>
        </p:spPr>
        <p:txBody>
          <a:bodyPr wrap="square" lIns="0" tIns="0" rIns="0" bIns="0" rtlCol="0" anchor="ctr">
            <a:normAutofit fontScale="85000" lnSpcReduction="10000"/>
          </a:bodyPr>
          <a:lstStyle/>
          <a:p>
            <a:pPr marL="0" indent="0">
              <a:buNone/>
            </a:pPr>
            <a:r>
              <a:rPr lang="en-US" sz="1800" b="1" dirty="0">
                <a:solidFill>
                  <a:srgbClr val="334155"/>
                </a:solidFill>
              </a:rPr>
              <a:t>Implication: attention appears stronger as a participation indicator than as a direct price-direction signal.</a:t>
            </a:r>
            <a:endParaRPr lang="en-US" sz="1800" dirty="0"/>
          </a:p>
        </p:txBody>
      </p:sp>
      <p:sp>
        <p:nvSpPr>
          <p:cNvPr id="23" name="Shape 19"/>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24" name="Text 20"/>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25" name="Text 21"/>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5/12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Pre-modelling diagnostics: stationarity and lag structure</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Diagnostics</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Text 3"/>
          <p:cNvSpPr/>
          <p:nvPr/>
        </p:nvSpPr>
        <p:spPr>
          <a:xfrm>
            <a:off x="694944" y="1143000"/>
            <a:ext cx="978408" cy="621792"/>
          </a:xfrm>
          <a:prstGeom prst="rect">
            <a:avLst/>
          </a:prstGeom>
          <a:noFill/>
          <a:ln/>
        </p:spPr>
        <p:txBody>
          <a:bodyPr wrap="square" lIns="0" tIns="0" rIns="0" bIns="0" rtlCol="0" anchor="ctr">
            <a:normAutofit/>
          </a:bodyPr>
          <a:lstStyle/>
          <a:p>
            <a:pPr marL="0" indent="0">
              <a:buNone/>
            </a:pPr>
            <a:r>
              <a:rPr lang="en-US" sz="1260" b="1" dirty="0">
                <a:solidFill>
                  <a:srgbClr val="2563EB"/>
                </a:solidFill>
                <a:latin typeface="Aptos" pitchFamily="34" charset="0"/>
                <a:ea typeface="Aptos" pitchFamily="34" charset="-122"/>
                <a:cs typeface="Aptos" pitchFamily="34" charset="-120"/>
              </a:rPr>
              <a:t>Diagnostic</a:t>
            </a:r>
            <a:endParaRPr lang="en-US" sz="1260" dirty="0"/>
          </a:p>
        </p:txBody>
      </p:sp>
      <p:sp>
        <p:nvSpPr>
          <p:cNvPr id="6" name="Text 4"/>
          <p:cNvSpPr/>
          <p:nvPr/>
        </p:nvSpPr>
        <p:spPr>
          <a:xfrm>
            <a:off x="1746504" y="1143000"/>
            <a:ext cx="1847088" cy="621792"/>
          </a:xfrm>
          <a:prstGeom prst="rect">
            <a:avLst/>
          </a:prstGeom>
          <a:noFill/>
          <a:ln/>
        </p:spPr>
        <p:txBody>
          <a:bodyPr wrap="square" lIns="0" tIns="0" rIns="0" bIns="0" rtlCol="0" anchor="ctr">
            <a:normAutofit/>
          </a:bodyPr>
          <a:lstStyle/>
          <a:p>
            <a:pPr marL="0" indent="0">
              <a:buNone/>
            </a:pPr>
            <a:r>
              <a:rPr lang="en-US" sz="1260" b="1" dirty="0">
                <a:solidFill>
                  <a:srgbClr val="2563EB"/>
                </a:solidFill>
                <a:latin typeface="Aptos" pitchFamily="34" charset="0"/>
                <a:ea typeface="Aptos" pitchFamily="34" charset="-122"/>
                <a:cs typeface="Aptos" pitchFamily="34" charset="-120"/>
              </a:rPr>
              <a:t>Purpose</a:t>
            </a:r>
            <a:endParaRPr lang="en-US" sz="1260" dirty="0"/>
          </a:p>
        </p:txBody>
      </p:sp>
      <p:sp>
        <p:nvSpPr>
          <p:cNvPr id="7" name="Text 5"/>
          <p:cNvSpPr/>
          <p:nvPr/>
        </p:nvSpPr>
        <p:spPr>
          <a:xfrm>
            <a:off x="3666744" y="1143000"/>
            <a:ext cx="2807208" cy="621792"/>
          </a:xfrm>
          <a:prstGeom prst="rect">
            <a:avLst/>
          </a:prstGeom>
          <a:noFill/>
          <a:ln/>
        </p:spPr>
        <p:txBody>
          <a:bodyPr wrap="square" lIns="0" tIns="0" rIns="0" bIns="0" rtlCol="0" anchor="ctr">
            <a:normAutofit/>
          </a:bodyPr>
          <a:lstStyle/>
          <a:p>
            <a:pPr marL="0" indent="0">
              <a:buNone/>
            </a:pPr>
            <a:r>
              <a:rPr lang="en-US" sz="1260" b="1" dirty="0">
                <a:solidFill>
                  <a:srgbClr val="2563EB"/>
                </a:solidFill>
                <a:latin typeface="Aptos" pitchFamily="34" charset="0"/>
                <a:ea typeface="Aptos" pitchFamily="34" charset="-122"/>
                <a:cs typeface="Aptos" pitchFamily="34" charset="-120"/>
              </a:rPr>
              <a:t>Key result</a:t>
            </a:r>
            <a:endParaRPr lang="en-US" sz="1260" dirty="0"/>
          </a:p>
        </p:txBody>
      </p:sp>
      <p:sp>
        <p:nvSpPr>
          <p:cNvPr id="8" name="Shape 6"/>
          <p:cNvSpPr/>
          <p:nvPr/>
        </p:nvSpPr>
        <p:spPr>
          <a:xfrm>
            <a:off x="658368" y="1773936"/>
            <a:ext cx="5852160" cy="0"/>
          </a:xfrm>
          <a:prstGeom prst="line">
            <a:avLst/>
          </a:prstGeom>
          <a:noFill/>
          <a:ln w="15240">
            <a:solidFill>
              <a:srgbClr val="2563EB"/>
            </a:solidFill>
            <a:prstDash val="solid"/>
          </a:ln>
        </p:spPr>
        <p:txBody>
          <a:bodyPr/>
          <a:lstStyle/>
          <a:p>
            <a:endParaRPr lang="en-ZA"/>
          </a:p>
        </p:txBody>
      </p:sp>
      <p:sp>
        <p:nvSpPr>
          <p:cNvPr id="9" name="Text 7"/>
          <p:cNvSpPr/>
          <p:nvPr/>
        </p:nvSpPr>
        <p:spPr>
          <a:xfrm>
            <a:off x="694944" y="1837944"/>
            <a:ext cx="9784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ADF</a:t>
            </a:r>
            <a:endParaRPr lang="en-US" sz="1260" dirty="0"/>
          </a:p>
        </p:txBody>
      </p:sp>
      <p:sp>
        <p:nvSpPr>
          <p:cNvPr id="10" name="Text 8"/>
          <p:cNvSpPr/>
          <p:nvPr/>
        </p:nvSpPr>
        <p:spPr>
          <a:xfrm>
            <a:off x="1746504" y="1837944"/>
            <a:ext cx="184708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Avoid spurious time-series inference</a:t>
            </a:r>
            <a:endParaRPr lang="en-US" sz="1260" dirty="0"/>
          </a:p>
        </p:txBody>
      </p:sp>
      <p:sp>
        <p:nvSpPr>
          <p:cNvPr id="11" name="Text 9"/>
          <p:cNvSpPr/>
          <p:nvPr/>
        </p:nvSpPr>
        <p:spPr>
          <a:xfrm>
            <a:off x="3666744" y="1837944"/>
            <a:ext cx="28072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Returns, log returns, Trend_Bitcoin, Trend_BTC_Price and Trend_Crypto_Crash stationary in levels</a:t>
            </a:r>
            <a:endParaRPr lang="en-US" sz="1260" dirty="0"/>
          </a:p>
        </p:txBody>
      </p:sp>
      <p:sp>
        <p:nvSpPr>
          <p:cNvPr id="12" name="Shape 10"/>
          <p:cNvSpPr/>
          <p:nvPr/>
        </p:nvSpPr>
        <p:spPr>
          <a:xfrm>
            <a:off x="658368" y="2468880"/>
            <a:ext cx="5852160" cy="0"/>
          </a:xfrm>
          <a:prstGeom prst="line">
            <a:avLst/>
          </a:prstGeom>
          <a:noFill/>
          <a:ln w="7620">
            <a:solidFill>
              <a:srgbClr val="E2E8F0"/>
            </a:solidFill>
            <a:prstDash val="solid"/>
          </a:ln>
        </p:spPr>
        <p:txBody>
          <a:bodyPr/>
          <a:lstStyle/>
          <a:p>
            <a:endParaRPr lang="en-ZA"/>
          </a:p>
        </p:txBody>
      </p:sp>
      <p:sp>
        <p:nvSpPr>
          <p:cNvPr id="13" name="Text 11"/>
          <p:cNvSpPr/>
          <p:nvPr/>
        </p:nvSpPr>
        <p:spPr>
          <a:xfrm>
            <a:off x="694944" y="2532888"/>
            <a:ext cx="9784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Differencing</a:t>
            </a:r>
            <a:endParaRPr lang="en-US" sz="1260" dirty="0"/>
          </a:p>
        </p:txBody>
      </p:sp>
      <p:sp>
        <p:nvSpPr>
          <p:cNvPr id="14" name="Text 12"/>
          <p:cNvSpPr/>
          <p:nvPr/>
        </p:nvSpPr>
        <p:spPr>
          <a:xfrm>
            <a:off x="1746504" y="2532888"/>
            <a:ext cx="184708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Stabilise non-stationary series</a:t>
            </a:r>
            <a:endParaRPr lang="en-US" sz="1260" dirty="0"/>
          </a:p>
        </p:txBody>
      </p:sp>
      <p:sp>
        <p:nvSpPr>
          <p:cNvPr id="15" name="Text 13"/>
          <p:cNvSpPr/>
          <p:nvPr/>
        </p:nvSpPr>
        <p:spPr>
          <a:xfrm>
            <a:off x="3666744" y="2532888"/>
            <a:ext cx="28072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Price, volume and selected trend terms transformed before formal tests</a:t>
            </a:r>
            <a:endParaRPr lang="en-US" sz="1260" dirty="0"/>
          </a:p>
        </p:txBody>
      </p:sp>
      <p:sp>
        <p:nvSpPr>
          <p:cNvPr id="16" name="Shape 14"/>
          <p:cNvSpPr/>
          <p:nvPr/>
        </p:nvSpPr>
        <p:spPr>
          <a:xfrm>
            <a:off x="658368" y="3163824"/>
            <a:ext cx="5852160" cy="0"/>
          </a:xfrm>
          <a:prstGeom prst="line">
            <a:avLst/>
          </a:prstGeom>
          <a:noFill/>
          <a:ln w="7620">
            <a:solidFill>
              <a:srgbClr val="E2E8F0"/>
            </a:solidFill>
            <a:prstDash val="solid"/>
          </a:ln>
        </p:spPr>
        <p:txBody>
          <a:bodyPr/>
          <a:lstStyle/>
          <a:p>
            <a:endParaRPr lang="en-ZA"/>
          </a:p>
        </p:txBody>
      </p:sp>
      <p:sp>
        <p:nvSpPr>
          <p:cNvPr id="17" name="Text 15"/>
          <p:cNvSpPr/>
          <p:nvPr/>
        </p:nvSpPr>
        <p:spPr>
          <a:xfrm>
            <a:off x="694944" y="3227832"/>
            <a:ext cx="9784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ACF / PACF</a:t>
            </a:r>
            <a:endParaRPr lang="en-US" sz="1260" dirty="0"/>
          </a:p>
        </p:txBody>
      </p:sp>
      <p:sp>
        <p:nvSpPr>
          <p:cNvPr id="18" name="Text 16"/>
          <p:cNvSpPr/>
          <p:nvPr/>
        </p:nvSpPr>
        <p:spPr>
          <a:xfrm>
            <a:off x="1746504" y="3227832"/>
            <a:ext cx="184708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Identify persistence and lag memory</a:t>
            </a:r>
            <a:endParaRPr lang="en-US" sz="1260" dirty="0"/>
          </a:p>
        </p:txBody>
      </p:sp>
      <p:sp>
        <p:nvSpPr>
          <p:cNvPr id="19" name="Text 17"/>
          <p:cNvSpPr/>
          <p:nvPr/>
        </p:nvSpPr>
        <p:spPr>
          <a:xfrm>
            <a:off x="3666744" y="3227832"/>
            <a:ext cx="28072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Returns weakly autocorrelated; attention variables show short-run memory</a:t>
            </a:r>
            <a:endParaRPr lang="en-US" sz="1260" dirty="0"/>
          </a:p>
        </p:txBody>
      </p:sp>
      <p:sp>
        <p:nvSpPr>
          <p:cNvPr id="20" name="Shape 18"/>
          <p:cNvSpPr/>
          <p:nvPr/>
        </p:nvSpPr>
        <p:spPr>
          <a:xfrm>
            <a:off x="658368" y="3858768"/>
            <a:ext cx="5852160" cy="0"/>
          </a:xfrm>
          <a:prstGeom prst="line">
            <a:avLst/>
          </a:prstGeom>
          <a:noFill/>
          <a:ln w="7620">
            <a:solidFill>
              <a:srgbClr val="E2E8F0"/>
            </a:solidFill>
            <a:prstDash val="solid"/>
          </a:ln>
        </p:spPr>
        <p:txBody>
          <a:bodyPr/>
          <a:lstStyle/>
          <a:p>
            <a:endParaRPr lang="en-ZA"/>
          </a:p>
        </p:txBody>
      </p:sp>
      <p:sp>
        <p:nvSpPr>
          <p:cNvPr id="21" name="Text 19"/>
          <p:cNvSpPr/>
          <p:nvPr/>
        </p:nvSpPr>
        <p:spPr>
          <a:xfrm>
            <a:off x="694944" y="3922776"/>
            <a:ext cx="9784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STL</a:t>
            </a:r>
            <a:endParaRPr lang="en-US" sz="1260" dirty="0"/>
          </a:p>
        </p:txBody>
      </p:sp>
      <p:sp>
        <p:nvSpPr>
          <p:cNvPr id="22" name="Text 20"/>
          <p:cNvSpPr/>
          <p:nvPr/>
        </p:nvSpPr>
        <p:spPr>
          <a:xfrm>
            <a:off x="1746504" y="3922776"/>
            <a:ext cx="184708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Separate trend, seasonal and irregular components</a:t>
            </a:r>
            <a:endParaRPr lang="en-US" sz="1260" dirty="0"/>
          </a:p>
        </p:txBody>
      </p:sp>
      <p:sp>
        <p:nvSpPr>
          <p:cNvPr id="23" name="Text 21"/>
          <p:cNvSpPr/>
          <p:nvPr/>
        </p:nvSpPr>
        <p:spPr>
          <a:xfrm>
            <a:off x="3666744" y="3922776"/>
            <a:ext cx="2807208" cy="621792"/>
          </a:xfrm>
          <a:prstGeom prst="rect">
            <a:avLst/>
          </a:prstGeom>
          <a:noFill/>
          <a:ln/>
        </p:spPr>
        <p:txBody>
          <a:bodyPr wrap="square" lIns="0" tIns="0" rIns="0" bIns="0" rtlCol="0" anchor="ctr">
            <a:normAutofit/>
          </a:bodyPr>
          <a:lstStyle/>
          <a:p>
            <a:pPr marL="0" indent="0">
              <a:buNone/>
            </a:pPr>
            <a:r>
              <a:rPr lang="en-US" sz="1260" dirty="0">
                <a:solidFill>
                  <a:srgbClr val="0F172A"/>
                </a:solidFill>
                <a:latin typeface="Aptos" pitchFamily="34" charset="0"/>
                <a:ea typeface="Aptos" pitchFamily="34" charset="-122"/>
                <a:cs typeface="Aptos" pitchFamily="34" charset="-120"/>
              </a:rPr>
              <a:t>Attention aligns with cycles but often reacts to shocks</a:t>
            </a:r>
            <a:endParaRPr lang="en-US" sz="1260" dirty="0"/>
          </a:p>
        </p:txBody>
      </p:sp>
      <p:sp>
        <p:nvSpPr>
          <p:cNvPr id="24" name="Shape 22"/>
          <p:cNvSpPr/>
          <p:nvPr/>
        </p:nvSpPr>
        <p:spPr>
          <a:xfrm>
            <a:off x="658368" y="4553712"/>
            <a:ext cx="5852160" cy="0"/>
          </a:xfrm>
          <a:prstGeom prst="line">
            <a:avLst/>
          </a:prstGeom>
          <a:noFill/>
          <a:ln w="7620">
            <a:solidFill>
              <a:srgbClr val="E2E8F0"/>
            </a:solidFill>
            <a:prstDash val="solid"/>
          </a:ln>
        </p:spPr>
        <p:txBody>
          <a:bodyPr/>
          <a:lstStyle/>
          <a:p>
            <a:endParaRPr lang="en-ZA"/>
          </a:p>
        </p:txBody>
      </p:sp>
      <p:sp>
        <p:nvSpPr>
          <p:cNvPr id="25" name="Shape 23"/>
          <p:cNvSpPr/>
          <p:nvPr/>
        </p:nvSpPr>
        <p:spPr>
          <a:xfrm>
            <a:off x="6812280" y="1097278"/>
            <a:ext cx="5030096" cy="2377438"/>
          </a:xfrm>
          <a:prstGeom prst="roundRect">
            <a:avLst>
              <a:gd name="adj" fmla="val 3902"/>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grpSp>
        <p:nvGrpSpPr>
          <p:cNvPr id="36" name="Group 35">
            <a:extLst>
              <a:ext uri="{FF2B5EF4-FFF2-40B4-BE49-F238E27FC236}">
                <a16:creationId xmlns:a16="http://schemas.microsoft.com/office/drawing/2014/main" id="{DB7B1DBE-4CAE-DBC2-338A-803623EBDF41}"/>
              </a:ext>
            </a:extLst>
          </p:cNvPr>
          <p:cNvGrpSpPr/>
          <p:nvPr/>
        </p:nvGrpSpPr>
        <p:grpSpPr>
          <a:xfrm>
            <a:off x="6976039" y="1261871"/>
            <a:ext cx="4722173" cy="2112279"/>
            <a:chOff x="6976040" y="1261871"/>
            <a:chExt cx="4518800" cy="1787548"/>
          </a:xfrm>
        </p:grpSpPr>
        <p:pic>
          <p:nvPicPr>
            <p:cNvPr id="26" name="Image 0" descr="/mnt/data/notebook_figures/cell43_out02.png"/>
            <p:cNvPicPr>
              <a:picLocks noChangeAspect="1"/>
            </p:cNvPicPr>
            <p:nvPr/>
          </p:nvPicPr>
          <p:blipFill>
            <a:blip r:embed="rId3"/>
            <a:stretch>
              <a:fillRect/>
            </a:stretch>
          </p:blipFill>
          <p:spPr>
            <a:xfrm>
              <a:off x="6976040" y="1261871"/>
              <a:ext cx="4518800" cy="1594105"/>
            </a:xfrm>
            <a:prstGeom prst="rect">
              <a:avLst/>
            </a:prstGeom>
          </p:spPr>
        </p:pic>
        <p:sp>
          <p:nvSpPr>
            <p:cNvPr id="27" name="Text 24"/>
            <p:cNvSpPr/>
            <p:nvPr/>
          </p:nvSpPr>
          <p:spPr>
            <a:xfrm>
              <a:off x="7149396" y="2848251"/>
              <a:ext cx="4187952" cy="201168"/>
            </a:xfrm>
            <a:prstGeom prst="rect">
              <a:avLst/>
            </a:prstGeom>
            <a:noFill/>
            <a:ln/>
          </p:spPr>
          <p:txBody>
            <a:bodyPr wrap="square" lIns="0" tIns="0" rIns="0" bIns="0" rtlCol="0" anchor="ctr"/>
            <a:lstStyle/>
            <a:p>
              <a:pPr marL="0" indent="0" algn="ctr">
                <a:buNone/>
              </a:pPr>
              <a:r>
                <a:rPr lang="en-US" sz="950" dirty="0">
                  <a:solidFill>
                    <a:srgbClr val="64748B"/>
                  </a:solidFill>
                </a:rPr>
                <a:t>ACF/PACF: Trend_Bitcoin</a:t>
              </a:r>
              <a:endParaRPr lang="en-US" sz="950" dirty="0"/>
            </a:p>
          </p:txBody>
        </p:sp>
      </p:grpSp>
      <p:grpSp>
        <p:nvGrpSpPr>
          <p:cNvPr id="37" name="Group 36">
            <a:extLst>
              <a:ext uri="{FF2B5EF4-FFF2-40B4-BE49-F238E27FC236}">
                <a16:creationId xmlns:a16="http://schemas.microsoft.com/office/drawing/2014/main" id="{01BD8433-8DCA-CAD0-3C63-83027C091D4A}"/>
              </a:ext>
            </a:extLst>
          </p:cNvPr>
          <p:cNvGrpSpPr/>
          <p:nvPr/>
        </p:nvGrpSpPr>
        <p:grpSpPr>
          <a:xfrm>
            <a:off x="6638544" y="3566158"/>
            <a:ext cx="5445880" cy="2816355"/>
            <a:chOff x="6723379" y="3639313"/>
            <a:chExt cx="5196840" cy="2743200"/>
          </a:xfrm>
        </p:grpSpPr>
        <p:sp>
          <p:nvSpPr>
            <p:cNvPr id="28" name="Shape 25"/>
            <p:cNvSpPr/>
            <p:nvPr/>
          </p:nvSpPr>
          <p:spPr>
            <a:xfrm>
              <a:off x="6855459" y="3639313"/>
              <a:ext cx="4846320" cy="2706613"/>
            </a:xfrm>
            <a:prstGeom prst="roundRect">
              <a:avLst>
                <a:gd name="adj" fmla="val 3404"/>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grpSp>
          <p:nvGrpSpPr>
            <p:cNvPr id="35" name="Group 34">
              <a:extLst>
                <a:ext uri="{FF2B5EF4-FFF2-40B4-BE49-F238E27FC236}">
                  <a16:creationId xmlns:a16="http://schemas.microsoft.com/office/drawing/2014/main" id="{81CC2389-C27E-AD74-7A78-DCD662C41986}"/>
                </a:ext>
              </a:extLst>
            </p:cNvPr>
            <p:cNvGrpSpPr/>
            <p:nvPr/>
          </p:nvGrpSpPr>
          <p:grpSpPr>
            <a:xfrm>
              <a:off x="6723379" y="3675901"/>
              <a:ext cx="5196840" cy="2706612"/>
              <a:chOff x="6958584" y="3502152"/>
              <a:chExt cx="4187952" cy="1965960"/>
            </a:xfrm>
          </p:grpSpPr>
          <p:pic>
            <p:nvPicPr>
              <p:cNvPr id="29" name="Image 1" descr="/mnt/data/notebook_figures/cell40_out02.png"/>
              <p:cNvPicPr>
                <a:picLocks noChangeAspect="1"/>
              </p:cNvPicPr>
              <p:nvPr/>
            </p:nvPicPr>
            <p:blipFill>
              <a:blip r:embed="rId4"/>
              <a:stretch>
                <a:fillRect/>
              </a:stretch>
            </p:blipFill>
            <p:spPr>
              <a:xfrm>
                <a:off x="7741823" y="3502152"/>
                <a:ext cx="2621473" cy="1737360"/>
              </a:xfrm>
              <a:prstGeom prst="rect">
                <a:avLst/>
              </a:prstGeom>
            </p:spPr>
          </p:pic>
          <p:sp>
            <p:nvSpPr>
              <p:cNvPr id="30" name="Text 26"/>
              <p:cNvSpPr/>
              <p:nvPr/>
            </p:nvSpPr>
            <p:spPr>
              <a:xfrm>
                <a:off x="6958584" y="5266944"/>
                <a:ext cx="4187952" cy="201168"/>
              </a:xfrm>
              <a:prstGeom prst="rect">
                <a:avLst/>
              </a:prstGeom>
              <a:noFill/>
              <a:ln/>
            </p:spPr>
            <p:txBody>
              <a:bodyPr wrap="square" lIns="0" tIns="0" rIns="0" bIns="0" rtlCol="0" anchor="ctr"/>
              <a:lstStyle/>
              <a:p>
                <a:pPr marL="0" indent="0" algn="ctr">
                  <a:buNone/>
                </a:pPr>
                <a:r>
                  <a:rPr lang="en-US" sz="950" dirty="0">
                    <a:solidFill>
                      <a:srgbClr val="64748B"/>
                    </a:solidFill>
                  </a:rPr>
                  <a:t>STL decomposition: Trend_Bitcoin</a:t>
                </a:r>
                <a:endParaRPr lang="en-US" sz="950" dirty="0"/>
              </a:p>
            </p:txBody>
          </p:sp>
        </p:grpSp>
      </p:grpSp>
      <p:sp>
        <p:nvSpPr>
          <p:cNvPr id="31" name="Text 27"/>
          <p:cNvSpPr/>
          <p:nvPr/>
        </p:nvSpPr>
        <p:spPr>
          <a:xfrm>
            <a:off x="658368" y="5074920"/>
            <a:ext cx="5806440" cy="594360"/>
          </a:xfrm>
          <a:prstGeom prst="rect">
            <a:avLst/>
          </a:prstGeom>
          <a:noFill/>
          <a:ln/>
        </p:spPr>
        <p:txBody>
          <a:bodyPr wrap="square" lIns="0" tIns="0" rIns="0" bIns="0" rtlCol="0" anchor="ctr">
            <a:normAutofit fontScale="70000" lnSpcReduction="20000"/>
          </a:bodyPr>
          <a:lstStyle/>
          <a:p>
            <a:r>
              <a:rPr lang="en-US" sz="1650" dirty="0">
                <a:solidFill>
                  <a:srgbClr val="334155"/>
                </a:solidFill>
              </a:rPr>
              <a:t>Modelling decision: </a:t>
            </a:r>
          </a:p>
          <a:p>
            <a:pPr marL="285750" indent="-285750">
              <a:buFont typeface="Arial" panose="020B0604020202020204" pitchFamily="34" charset="0"/>
              <a:buChar char="•"/>
            </a:pPr>
            <a:r>
              <a:rPr lang="en-US" sz="1650" dirty="0">
                <a:solidFill>
                  <a:srgbClr val="334155"/>
                </a:solidFill>
              </a:rPr>
              <a:t>Only stationary series were used in formal lead–lag and causality tests to avoid spurious results </a:t>
            </a:r>
          </a:p>
          <a:p>
            <a:pPr marL="285750" indent="-285750">
              <a:buFont typeface="Arial" panose="020B0604020202020204" pitchFamily="34" charset="0"/>
              <a:buChar char="•"/>
            </a:pPr>
            <a:r>
              <a:rPr lang="en-US" sz="1650" dirty="0">
                <a:solidFill>
                  <a:srgbClr val="334155"/>
                </a:solidFill>
              </a:rPr>
              <a:t>Treat Bitcoin News conservatively because stationarity evidence was conflicting.</a:t>
            </a:r>
            <a:endParaRPr lang="en-US" sz="1650" dirty="0"/>
          </a:p>
        </p:txBody>
      </p:sp>
      <p:sp>
        <p:nvSpPr>
          <p:cNvPr id="32" name="Shape 28"/>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33" name="Text 29"/>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34" name="Text 30"/>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6/12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Cross-correlation maps the timing of attention effects</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Lead–lag</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7" name="Text 4"/>
          <p:cNvSpPr/>
          <p:nvPr/>
        </p:nvSpPr>
        <p:spPr>
          <a:xfrm>
            <a:off x="2436067" y="3339998"/>
            <a:ext cx="1656679" cy="178003"/>
          </a:xfrm>
          <a:prstGeom prst="rect">
            <a:avLst/>
          </a:prstGeom>
          <a:noFill/>
          <a:ln/>
        </p:spPr>
        <p:txBody>
          <a:bodyPr wrap="square" lIns="0" tIns="0" rIns="0" bIns="0" rtlCol="0" anchor="ctr"/>
          <a:lstStyle/>
          <a:p>
            <a:pPr marL="0" indent="0" algn="ctr">
              <a:buNone/>
            </a:pPr>
            <a:r>
              <a:rPr lang="en-US" sz="950" dirty="0">
                <a:solidFill>
                  <a:srgbClr val="64748B"/>
                </a:solidFill>
              </a:rPr>
              <a:t>Trend_Bitcoin vs Volume</a:t>
            </a:r>
            <a:endParaRPr lang="en-US" sz="950" dirty="0"/>
          </a:p>
        </p:txBody>
      </p:sp>
      <p:sp>
        <p:nvSpPr>
          <p:cNvPr id="10" name="Text 6"/>
          <p:cNvSpPr/>
          <p:nvPr/>
        </p:nvSpPr>
        <p:spPr>
          <a:xfrm>
            <a:off x="488225" y="6014539"/>
            <a:ext cx="5266944" cy="258243"/>
          </a:xfrm>
          <a:prstGeom prst="rect">
            <a:avLst/>
          </a:prstGeom>
          <a:noFill/>
          <a:ln/>
        </p:spPr>
        <p:txBody>
          <a:bodyPr wrap="square" lIns="0" tIns="0" rIns="0" bIns="0" rtlCol="0" anchor="ctr"/>
          <a:lstStyle/>
          <a:p>
            <a:pPr marL="0" indent="0" algn="ctr">
              <a:buNone/>
            </a:pPr>
            <a:r>
              <a:rPr lang="en-US" sz="950" dirty="0">
                <a:solidFill>
                  <a:srgbClr val="64748B"/>
                </a:solidFill>
              </a:rPr>
              <a:t>Trend_Bitcoin vs Returns</a:t>
            </a:r>
            <a:endParaRPr lang="en-US" sz="950" dirty="0"/>
          </a:p>
        </p:txBody>
      </p:sp>
      <p:sp>
        <p:nvSpPr>
          <p:cNvPr id="11" name="Text 7"/>
          <p:cNvSpPr/>
          <p:nvPr/>
        </p:nvSpPr>
        <p:spPr>
          <a:xfrm>
            <a:off x="6446520" y="1060704"/>
            <a:ext cx="4206240" cy="292608"/>
          </a:xfrm>
          <a:prstGeom prst="rect">
            <a:avLst/>
          </a:prstGeom>
          <a:noFill/>
          <a:ln/>
        </p:spPr>
        <p:txBody>
          <a:bodyPr wrap="square" lIns="0" tIns="0" rIns="0" bIns="0" rtlCol="0" anchor="ctr"/>
          <a:lstStyle/>
          <a:p>
            <a:pPr marL="0" indent="0">
              <a:buNone/>
            </a:pPr>
            <a:r>
              <a:rPr lang="en-US" sz="2200" b="1" dirty="0">
                <a:solidFill>
                  <a:srgbClr val="0F172A"/>
                </a:solidFill>
              </a:rPr>
              <a:t>Best-lag evidence</a:t>
            </a:r>
            <a:endParaRPr lang="en-US" sz="2200" dirty="0"/>
          </a:p>
        </p:txBody>
      </p:sp>
      <p:sp>
        <p:nvSpPr>
          <p:cNvPr id="37" name="Shape 33"/>
          <p:cNvSpPr/>
          <p:nvPr/>
        </p:nvSpPr>
        <p:spPr>
          <a:xfrm>
            <a:off x="6505956" y="5287939"/>
            <a:ext cx="4892040" cy="1188720"/>
          </a:xfrm>
          <a:prstGeom prst="roundRect">
            <a:avLst>
              <a:gd name="adj" fmla="val 10000"/>
            </a:avLst>
          </a:prstGeom>
          <a:solidFill>
            <a:srgbClr val="1E293B"/>
          </a:solidFill>
          <a:ln w="12700">
            <a:solidFill>
              <a:srgbClr val="1E293B">
                <a:alpha val="0"/>
              </a:srgbClr>
            </a:solidFill>
            <a:prstDash val="solid"/>
          </a:ln>
          <a:effectLst>
            <a:outerShdw blurRad="19050" dist="12700" dir="2700000" algn="bl" rotWithShape="0">
              <a:srgbClr val="000000">
                <a:alpha val="15000"/>
              </a:srgbClr>
            </a:outerShdw>
          </a:effectLst>
        </p:spPr>
        <p:txBody>
          <a:bodyPr/>
          <a:lstStyle/>
          <a:p>
            <a:endParaRPr lang="en-ZA"/>
          </a:p>
        </p:txBody>
      </p:sp>
      <p:sp>
        <p:nvSpPr>
          <p:cNvPr id="38" name="Text 34"/>
          <p:cNvSpPr/>
          <p:nvPr/>
        </p:nvSpPr>
        <p:spPr>
          <a:xfrm>
            <a:off x="6707124" y="5395908"/>
            <a:ext cx="4489704" cy="768096"/>
          </a:xfrm>
          <a:prstGeom prst="rect">
            <a:avLst/>
          </a:prstGeom>
          <a:noFill/>
          <a:ln/>
        </p:spPr>
        <p:txBody>
          <a:bodyPr wrap="square" lIns="508" tIns="508" rIns="508" bIns="508" rtlCol="0" anchor="ctr">
            <a:normAutofit fontScale="55000" lnSpcReduction="20000"/>
          </a:bodyPr>
          <a:lstStyle/>
          <a:p>
            <a:pPr marL="0" indent="0" algn="ctr">
              <a:buNone/>
            </a:pPr>
            <a:r>
              <a:rPr lang="en-US" sz="2000" b="1" dirty="0">
                <a:solidFill>
                  <a:schemeClr val="bg1"/>
                </a:solidFill>
              </a:rPr>
              <a:t>Interpretation:</a:t>
            </a:r>
          </a:p>
          <a:p>
            <a:pPr marL="342900" indent="-342900">
              <a:buFont typeface="Arial" panose="020B0604020202020204" pitchFamily="34" charset="0"/>
              <a:buChar char="•"/>
            </a:pPr>
            <a:r>
              <a:rPr lang="en-ZA" sz="2000" dirty="0">
                <a:solidFill>
                  <a:schemeClr val="bg1"/>
                </a:solidFill>
              </a:rPr>
              <a:t>Cross-correlation provides timing evidence, not predictive proof</a:t>
            </a:r>
          </a:p>
          <a:p>
            <a:pPr marL="342900" indent="-342900">
              <a:buFont typeface="Arial" panose="020B0604020202020204" pitchFamily="34" charset="0"/>
              <a:buChar char="•"/>
            </a:pPr>
            <a:r>
              <a:rPr lang="en-ZA" sz="2000" dirty="0" err="1">
                <a:solidFill>
                  <a:schemeClr val="bg1"/>
                </a:solidFill>
              </a:rPr>
              <a:t>Trend_Bitcoin</a:t>
            </a:r>
            <a:r>
              <a:rPr lang="en-ZA" sz="2000" dirty="0">
                <a:solidFill>
                  <a:schemeClr val="bg1"/>
                </a:solidFill>
              </a:rPr>
              <a:t> leads trading volume by ~2 weeks.</a:t>
            </a:r>
          </a:p>
          <a:p>
            <a:pPr marL="342900" indent="-342900">
              <a:buFont typeface="Arial" panose="020B0604020202020204" pitchFamily="34" charset="0"/>
              <a:buChar char="•"/>
            </a:pPr>
            <a:r>
              <a:rPr lang="en-ZA" sz="2000" dirty="0">
                <a:solidFill>
                  <a:schemeClr val="bg1"/>
                </a:solidFill>
              </a:rPr>
              <a:t>Return relationships are weaker and unstable across lags.</a:t>
            </a:r>
            <a:endParaRPr lang="en-US" sz="2000" dirty="0">
              <a:solidFill>
                <a:schemeClr val="bg1"/>
              </a:solidFill>
            </a:endParaRPr>
          </a:p>
        </p:txBody>
      </p:sp>
      <p:sp>
        <p:nvSpPr>
          <p:cNvPr id="39" name="Shape 35"/>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40" name="Text 36"/>
          <p:cNvSpPr/>
          <p:nvPr/>
        </p:nvSpPr>
        <p:spPr>
          <a:xfrm>
            <a:off x="502920" y="6565392"/>
            <a:ext cx="5486400" cy="146304"/>
          </a:xfrm>
          <a:prstGeom prst="rect">
            <a:avLst/>
          </a:prstGeom>
          <a:noFill/>
          <a:ln/>
        </p:spPr>
        <p:txBody>
          <a:bodyPr wrap="square" lIns="0" tIns="0" rIns="0" bIns="0" rtlCol="0" anchor="ctr"/>
          <a:lstStyle/>
          <a:p>
            <a:pPr marL="0" indent="0">
              <a:buNone/>
            </a:pPr>
            <a:r>
              <a:rPr lang="en-US" sz="750" dirty="0">
                <a:solidFill>
                  <a:srgbClr val="94A3B8"/>
                </a:solidFill>
              </a:rPr>
              <a:t>EDAB 6808 : Assignment 1</a:t>
            </a:r>
            <a:endParaRPr lang="en-US" sz="750" dirty="0"/>
          </a:p>
        </p:txBody>
      </p:sp>
      <p:sp>
        <p:nvSpPr>
          <p:cNvPr id="41" name="Text 37"/>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7/12</a:t>
            </a:r>
            <a:endParaRPr lang="en-US" sz="750" dirty="0"/>
          </a:p>
        </p:txBody>
      </p:sp>
      <p:pic>
        <p:nvPicPr>
          <p:cNvPr id="43" name="Picture 42">
            <a:extLst>
              <a:ext uri="{FF2B5EF4-FFF2-40B4-BE49-F238E27FC236}">
                <a16:creationId xmlns:a16="http://schemas.microsoft.com/office/drawing/2014/main" id="{0D2027FD-C3E3-507F-E3D0-3CC990C83A11}"/>
              </a:ext>
            </a:extLst>
          </p:cNvPr>
          <p:cNvPicPr>
            <a:picLocks noChangeAspect="1"/>
          </p:cNvPicPr>
          <p:nvPr/>
        </p:nvPicPr>
        <p:blipFill>
          <a:blip r:embed="rId3"/>
          <a:stretch>
            <a:fillRect/>
          </a:stretch>
        </p:blipFill>
        <p:spPr>
          <a:xfrm>
            <a:off x="10223" y="975006"/>
            <a:ext cx="6363145" cy="4533083"/>
          </a:xfrm>
          <a:prstGeom prst="rect">
            <a:avLst/>
          </a:prstGeom>
        </p:spPr>
      </p:pic>
      <p:graphicFrame>
        <p:nvGraphicFramePr>
          <p:cNvPr id="45" name="Table 44">
            <a:extLst>
              <a:ext uri="{FF2B5EF4-FFF2-40B4-BE49-F238E27FC236}">
                <a16:creationId xmlns:a16="http://schemas.microsoft.com/office/drawing/2014/main" id="{6C061577-525B-B751-A616-4C0C8BE4573E}"/>
              </a:ext>
            </a:extLst>
          </p:cNvPr>
          <p:cNvGraphicFramePr>
            <a:graphicFrameLocks noGrp="1"/>
          </p:cNvGraphicFramePr>
          <p:nvPr>
            <p:extLst>
              <p:ext uri="{D42A27DB-BD31-4B8C-83A1-F6EECF244321}">
                <p14:modId xmlns:p14="http://schemas.microsoft.com/office/powerpoint/2010/main" val="1522791307"/>
              </p:ext>
            </p:extLst>
          </p:nvPr>
        </p:nvGraphicFramePr>
        <p:xfrm>
          <a:off x="6446519" y="1461281"/>
          <a:ext cx="5526741" cy="3738600"/>
        </p:xfrm>
        <a:graphic>
          <a:graphicData uri="http://schemas.openxmlformats.org/drawingml/2006/table">
            <a:tbl>
              <a:tblPr firstRow="1">
                <a:tableStyleId>{2D5ABB26-0587-4C30-8999-92F81FD0307C}</a:tableStyleId>
              </a:tblPr>
              <a:tblGrid>
                <a:gridCol w="1226046">
                  <a:extLst>
                    <a:ext uri="{9D8B030D-6E8A-4147-A177-3AD203B41FA5}">
                      <a16:colId xmlns:a16="http://schemas.microsoft.com/office/drawing/2014/main" val="2277222594"/>
                    </a:ext>
                  </a:extLst>
                </a:gridCol>
                <a:gridCol w="731066">
                  <a:extLst>
                    <a:ext uri="{9D8B030D-6E8A-4147-A177-3AD203B41FA5}">
                      <a16:colId xmlns:a16="http://schemas.microsoft.com/office/drawing/2014/main" val="1850747762"/>
                    </a:ext>
                  </a:extLst>
                </a:gridCol>
                <a:gridCol w="525880">
                  <a:extLst>
                    <a:ext uri="{9D8B030D-6E8A-4147-A177-3AD203B41FA5}">
                      <a16:colId xmlns:a16="http://schemas.microsoft.com/office/drawing/2014/main" val="3644499418"/>
                    </a:ext>
                  </a:extLst>
                </a:gridCol>
                <a:gridCol w="956147">
                  <a:extLst>
                    <a:ext uri="{9D8B030D-6E8A-4147-A177-3AD203B41FA5}">
                      <a16:colId xmlns:a16="http://schemas.microsoft.com/office/drawing/2014/main" val="4278700057"/>
                    </a:ext>
                  </a:extLst>
                </a:gridCol>
                <a:gridCol w="693205">
                  <a:extLst>
                    <a:ext uri="{9D8B030D-6E8A-4147-A177-3AD203B41FA5}">
                      <a16:colId xmlns:a16="http://schemas.microsoft.com/office/drawing/2014/main" val="3672696300"/>
                    </a:ext>
                  </a:extLst>
                </a:gridCol>
                <a:gridCol w="1394397">
                  <a:extLst>
                    <a:ext uri="{9D8B030D-6E8A-4147-A177-3AD203B41FA5}">
                      <a16:colId xmlns:a16="http://schemas.microsoft.com/office/drawing/2014/main" val="1034243552"/>
                    </a:ext>
                  </a:extLst>
                </a:gridCol>
              </a:tblGrid>
              <a:tr h="588884">
                <a:tc>
                  <a:txBody>
                    <a:bodyPr/>
                    <a:lstStyle/>
                    <a:p>
                      <a:pPr algn="ctr" fontAlgn="ctr">
                        <a:buNone/>
                      </a:pPr>
                      <a:r>
                        <a:rPr lang="en-ZA" sz="1200" b="1" dirty="0">
                          <a:solidFill>
                            <a:schemeClr val="accent1">
                              <a:lumMod val="50000"/>
                            </a:schemeClr>
                          </a:solidFill>
                          <a:effectLst/>
                        </a:rPr>
                        <a:t>Trend Variable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ZA" sz="1200" b="1" dirty="0">
                          <a:solidFill>
                            <a:schemeClr val="accent1">
                              <a:lumMod val="50000"/>
                            </a:schemeClr>
                          </a:solidFill>
                          <a:effectLst/>
                        </a:rPr>
                        <a:t>Market Variable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ZA" sz="1200" b="1" dirty="0">
                          <a:solidFill>
                            <a:schemeClr val="accent1">
                              <a:lumMod val="50000"/>
                            </a:schemeClr>
                          </a:solidFill>
                          <a:effectLst/>
                        </a:rPr>
                        <a:t>Best Lag</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ZA" sz="1200" b="1" dirty="0">
                          <a:solidFill>
                            <a:schemeClr val="accent1">
                              <a:lumMod val="50000"/>
                            </a:schemeClr>
                          </a:solidFill>
                          <a:effectLst/>
                        </a:rPr>
                        <a:t>p-value at Best Lag</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ZA" sz="1200" b="1" dirty="0">
                          <a:solidFill>
                            <a:schemeClr val="accent1">
                              <a:lumMod val="50000"/>
                            </a:schemeClr>
                          </a:solidFill>
                          <a:effectLst/>
                        </a:rPr>
                        <a:t>Significant at 5%</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ZA" sz="1200" b="1" dirty="0">
                          <a:solidFill>
                            <a:schemeClr val="accent1">
                              <a:lumMod val="50000"/>
                            </a:schemeClr>
                          </a:solidFill>
                          <a:effectLst/>
                        </a:rPr>
                        <a:t>Interpretation</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0011234"/>
                  </a:ext>
                </a:extLst>
              </a:tr>
              <a:tr h="345282">
                <a:tc>
                  <a:txBody>
                    <a:bodyPr/>
                    <a:lstStyle/>
                    <a:p>
                      <a:pPr>
                        <a:buNone/>
                      </a:pPr>
                      <a:r>
                        <a:rPr lang="en-ZA" sz="1000" b="1" dirty="0" err="1">
                          <a:effectLst/>
                        </a:rPr>
                        <a:t>Trend_Bitcoin</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Log Returns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-1</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0.010546</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Yes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leads returns by 1 week</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9142072"/>
                  </a:ext>
                </a:extLst>
              </a:tr>
              <a:tr h="345282">
                <a:tc>
                  <a:txBody>
                    <a:bodyPr/>
                    <a:lstStyle/>
                    <a:p>
                      <a:pPr>
                        <a:buNone/>
                      </a:pPr>
                      <a:r>
                        <a:rPr lang="en-ZA" sz="1000" b="1" dirty="0" err="1">
                          <a:effectLst/>
                        </a:rPr>
                        <a:t>Trend_Bitcoin</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Volume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-2</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0.001064</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Yes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leads trading volume by ~2 weeks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2450765"/>
                  </a:ext>
                </a:extLst>
              </a:tr>
              <a:tr h="409746">
                <a:tc>
                  <a:txBody>
                    <a:bodyPr/>
                    <a:lstStyle/>
                    <a:p>
                      <a:pPr>
                        <a:buNone/>
                      </a:pPr>
                      <a:r>
                        <a:rPr lang="en-ZA" sz="1000" b="1" dirty="0" err="1">
                          <a:effectLst/>
                        </a:rPr>
                        <a:t>Trend_BTC_Price</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Log Returns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-2</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0.213439</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No</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limited predictive usefulness.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488958"/>
                  </a:ext>
                </a:extLst>
              </a:tr>
              <a:tr h="409746">
                <a:tc>
                  <a:txBody>
                    <a:bodyPr/>
                    <a:lstStyle/>
                    <a:p>
                      <a:pPr>
                        <a:buNone/>
                      </a:pPr>
                      <a:r>
                        <a:rPr lang="en-ZA" sz="1000" b="1">
                          <a:effectLst/>
                        </a:rPr>
                        <a:t>Trend_BTC_Price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Volume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-2</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0.092172</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No</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limited predictive usefulness.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1004458"/>
                  </a:ext>
                </a:extLst>
              </a:tr>
              <a:tr h="409746">
                <a:tc>
                  <a:txBody>
                    <a:bodyPr/>
                    <a:lstStyle/>
                    <a:p>
                      <a:pPr>
                        <a:buNone/>
                      </a:pPr>
                      <a:r>
                        <a:rPr lang="en-ZA" sz="1000" b="1">
                          <a:effectLst/>
                        </a:rPr>
                        <a:t>Trend_Crypto_Crash</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Log Returns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-6</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0.026623</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Yes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lead returns over longer horizons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3993177"/>
                  </a:ext>
                </a:extLst>
              </a:tr>
              <a:tr h="409746">
                <a:tc>
                  <a:txBody>
                    <a:bodyPr/>
                    <a:lstStyle/>
                    <a:p>
                      <a:pPr>
                        <a:buNone/>
                      </a:pPr>
                      <a:r>
                        <a:rPr lang="en-ZA" sz="1000" b="1">
                          <a:effectLst/>
                        </a:rPr>
                        <a:t>Trend_Crypto_Crash</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Volume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0</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0.028036</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Yes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immediate market reactions.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392626"/>
                  </a:ext>
                </a:extLst>
              </a:tr>
              <a:tr h="409746">
                <a:tc>
                  <a:txBody>
                    <a:bodyPr/>
                    <a:lstStyle/>
                    <a:p>
                      <a:pPr>
                        <a:buNone/>
                      </a:pPr>
                      <a:r>
                        <a:rPr lang="en-ZA" sz="1000" b="1">
                          <a:effectLst/>
                        </a:rPr>
                        <a:t>Trend_Buy_Bitcoin</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Log Returns</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4</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0.062932</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No</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limited predictive usefulness.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5822643"/>
                  </a:ext>
                </a:extLst>
              </a:tr>
              <a:tr h="409746">
                <a:tc>
                  <a:txBody>
                    <a:bodyPr/>
                    <a:lstStyle/>
                    <a:p>
                      <a:pPr>
                        <a:buNone/>
                      </a:pPr>
                      <a:r>
                        <a:rPr lang="en-ZA" sz="1000" b="1" dirty="0" err="1">
                          <a:effectLst/>
                        </a:rPr>
                        <a:t>Trend_Buy_Bitcoin</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Volume</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7</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dirty="0">
                          <a:effectLst/>
                        </a:rPr>
                        <a:t>0.073014</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a:effectLst/>
                        </a:rPr>
                        <a:t>No</a:t>
                      </a: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ZA" sz="1000" b="1" dirty="0"/>
                        <a:t>limited predictive usefulness.</a:t>
                      </a:r>
                      <a:endParaRPr lang="en-ZA" sz="1000" b="1" dirty="0">
                        <a:effectLst/>
                      </a:endParaRPr>
                    </a:p>
                  </a:txBody>
                  <a:tcPr marL="40819" marR="40819" marT="20410" marB="2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03289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Granger causality: strongest evidence is attention → volume</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Predictive causality</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Text 3"/>
          <p:cNvSpPr/>
          <p:nvPr/>
        </p:nvSpPr>
        <p:spPr>
          <a:xfrm>
            <a:off x="685800" y="960120"/>
            <a:ext cx="10424160" cy="365760"/>
          </a:xfrm>
          <a:prstGeom prst="rect">
            <a:avLst/>
          </a:prstGeom>
          <a:noFill/>
          <a:ln/>
        </p:spPr>
        <p:txBody>
          <a:bodyPr wrap="square" lIns="0" tIns="0" rIns="0" bIns="0" rtlCol="0" anchor="ctr"/>
          <a:lstStyle/>
          <a:p>
            <a:pPr marL="0" indent="0">
              <a:buNone/>
            </a:pPr>
            <a:r>
              <a:rPr lang="en-US" sz="1750" dirty="0">
                <a:solidFill>
                  <a:srgbClr val="334155"/>
                </a:solidFill>
              </a:rPr>
              <a:t>Granger causality tests whether past values of one variable improve prediction of another variable beyond its own history.</a:t>
            </a:r>
            <a:endParaRPr lang="en-US" sz="1750" dirty="0"/>
          </a:p>
        </p:txBody>
      </p:sp>
      <p:sp>
        <p:nvSpPr>
          <p:cNvPr id="15" name="Shape 13"/>
          <p:cNvSpPr/>
          <p:nvPr/>
        </p:nvSpPr>
        <p:spPr>
          <a:xfrm>
            <a:off x="685800" y="2770632"/>
            <a:ext cx="6537960" cy="0"/>
          </a:xfrm>
          <a:prstGeom prst="line">
            <a:avLst/>
          </a:prstGeom>
          <a:noFill/>
          <a:ln w="7620">
            <a:solidFill>
              <a:srgbClr val="E2E8F0"/>
            </a:solidFill>
            <a:prstDash val="solid"/>
          </a:ln>
        </p:spPr>
        <p:txBody>
          <a:bodyPr/>
          <a:lstStyle/>
          <a:p>
            <a:endParaRPr lang="en-ZA"/>
          </a:p>
        </p:txBody>
      </p:sp>
      <p:sp>
        <p:nvSpPr>
          <p:cNvPr id="20" name="Shape 18"/>
          <p:cNvSpPr/>
          <p:nvPr/>
        </p:nvSpPr>
        <p:spPr>
          <a:xfrm>
            <a:off x="685800" y="3364992"/>
            <a:ext cx="6537960" cy="0"/>
          </a:xfrm>
          <a:prstGeom prst="line">
            <a:avLst/>
          </a:prstGeom>
          <a:noFill/>
          <a:ln w="7620">
            <a:solidFill>
              <a:srgbClr val="E2E8F0"/>
            </a:solidFill>
            <a:prstDash val="solid"/>
          </a:ln>
        </p:spPr>
        <p:txBody>
          <a:bodyPr/>
          <a:lstStyle/>
          <a:p>
            <a:endParaRPr lang="en-ZA"/>
          </a:p>
        </p:txBody>
      </p:sp>
      <p:sp>
        <p:nvSpPr>
          <p:cNvPr id="25" name="Shape 23"/>
          <p:cNvSpPr/>
          <p:nvPr/>
        </p:nvSpPr>
        <p:spPr>
          <a:xfrm>
            <a:off x="685800" y="3959352"/>
            <a:ext cx="6537960" cy="0"/>
          </a:xfrm>
          <a:prstGeom prst="line">
            <a:avLst/>
          </a:prstGeom>
          <a:noFill/>
          <a:ln w="7620">
            <a:solidFill>
              <a:srgbClr val="E2E8F0"/>
            </a:solidFill>
            <a:prstDash val="solid"/>
          </a:ln>
        </p:spPr>
        <p:txBody>
          <a:bodyPr/>
          <a:lstStyle/>
          <a:p>
            <a:endParaRPr lang="en-ZA"/>
          </a:p>
        </p:txBody>
      </p:sp>
      <p:sp>
        <p:nvSpPr>
          <p:cNvPr id="30" name="Shape 28"/>
          <p:cNvSpPr/>
          <p:nvPr/>
        </p:nvSpPr>
        <p:spPr>
          <a:xfrm>
            <a:off x="685800" y="4553712"/>
            <a:ext cx="6537960" cy="0"/>
          </a:xfrm>
          <a:prstGeom prst="line">
            <a:avLst/>
          </a:prstGeom>
          <a:noFill/>
          <a:ln w="7620">
            <a:solidFill>
              <a:srgbClr val="E2E8F0"/>
            </a:solidFill>
            <a:prstDash val="solid"/>
          </a:ln>
        </p:spPr>
        <p:txBody>
          <a:bodyPr/>
          <a:lstStyle/>
          <a:p>
            <a:endParaRPr lang="en-ZA"/>
          </a:p>
        </p:txBody>
      </p:sp>
      <p:grpSp>
        <p:nvGrpSpPr>
          <p:cNvPr id="48" name="Group 47">
            <a:extLst>
              <a:ext uri="{FF2B5EF4-FFF2-40B4-BE49-F238E27FC236}">
                <a16:creationId xmlns:a16="http://schemas.microsoft.com/office/drawing/2014/main" id="{FFF5BD92-E50D-E9EC-5D8A-FBB3FA00A4E5}"/>
              </a:ext>
            </a:extLst>
          </p:cNvPr>
          <p:cNvGrpSpPr/>
          <p:nvPr/>
        </p:nvGrpSpPr>
        <p:grpSpPr>
          <a:xfrm>
            <a:off x="685800" y="1645920"/>
            <a:ext cx="6537960" cy="3493008"/>
            <a:chOff x="685800" y="1645920"/>
            <a:chExt cx="6537960" cy="3493008"/>
          </a:xfrm>
        </p:grpSpPr>
        <p:sp>
          <p:nvSpPr>
            <p:cNvPr id="6" name="Text 4"/>
            <p:cNvSpPr/>
            <p:nvPr/>
          </p:nvSpPr>
          <p:spPr>
            <a:xfrm>
              <a:off x="722376" y="1645920"/>
              <a:ext cx="2395728" cy="52120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Direction</a:t>
              </a:r>
              <a:endParaRPr lang="en-US" sz="1320" dirty="0"/>
            </a:p>
          </p:txBody>
        </p:sp>
        <p:sp>
          <p:nvSpPr>
            <p:cNvPr id="7" name="Text 5"/>
            <p:cNvSpPr/>
            <p:nvPr/>
          </p:nvSpPr>
          <p:spPr>
            <a:xfrm>
              <a:off x="3191256" y="1645920"/>
              <a:ext cx="978408" cy="52120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Best lag</a:t>
              </a:r>
              <a:endParaRPr lang="en-US" sz="1320" dirty="0"/>
            </a:p>
          </p:txBody>
        </p:sp>
        <p:sp>
          <p:nvSpPr>
            <p:cNvPr id="8" name="Text 6"/>
            <p:cNvSpPr/>
            <p:nvPr/>
          </p:nvSpPr>
          <p:spPr>
            <a:xfrm>
              <a:off x="4242816" y="1645920"/>
              <a:ext cx="1161288" cy="52120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Min p-value</a:t>
              </a:r>
              <a:endParaRPr lang="en-US" sz="1320" dirty="0"/>
            </a:p>
          </p:txBody>
        </p:sp>
        <p:sp>
          <p:nvSpPr>
            <p:cNvPr id="9" name="Text 7"/>
            <p:cNvSpPr/>
            <p:nvPr/>
          </p:nvSpPr>
          <p:spPr>
            <a:xfrm>
              <a:off x="5477256" y="1645920"/>
              <a:ext cx="1709928" cy="521208"/>
            </a:xfrm>
            <a:prstGeom prst="rect">
              <a:avLst/>
            </a:prstGeom>
            <a:noFill/>
            <a:ln/>
          </p:spPr>
          <p:txBody>
            <a:bodyPr wrap="square" lIns="0" tIns="0" rIns="0" bIns="0" rtlCol="0" anchor="ctr">
              <a:normAutofit/>
            </a:bodyPr>
            <a:lstStyle/>
            <a:p>
              <a:pPr marL="0" indent="0">
                <a:buNone/>
              </a:pPr>
              <a:r>
                <a:rPr lang="en-US" sz="1320" b="1" dirty="0">
                  <a:solidFill>
                    <a:srgbClr val="2563EB"/>
                  </a:solidFill>
                  <a:latin typeface="Aptos" pitchFamily="34" charset="0"/>
                  <a:ea typeface="Aptos" pitchFamily="34" charset="-122"/>
                  <a:cs typeface="Aptos" pitchFamily="34" charset="-120"/>
                </a:rPr>
                <a:t>Result</a:t>
              </a:r>
              <a:endParaRPr lang="en-US" sz="1320" dirty="0"/>
            </a:p>
          </p:txBody>
        </p:sp>
        <p:sp>
          <p:nvSpPr>
            <p:cNvPr id="10" name="Shape 8"/>
            <p:cNvSpPr/>
            <p:nvPr/>
          </p:nvSpPr>
          <p:spPr>
            <a:xfrm>
              <a:off x="685800" y="2176272"/>
              <a:ext cx="6537960" cy="0"/>
            </a:xfrm>
            <a:prstGeom prst="line">
              <a:avLst/>
            </a:prstGeom>
            <a:noFill/>
            <a:ln w="15240">
              <a:solidFill>
                <a:srgbClr val="2563EB"/>
              </a:solidFill>
              <a:prstDash val="solid"/>
            </a:ln>
          </p:spPr>
          <p:txBody>
            <a:bodyPr/>
            <a:lstStyle/>
            <a:p>
              <a:endParaRPr lang="en-ZA"/>
            </a:p>
          </p:txBody>
        </p:sp>
        <p:sp>
          <p:nvSpPr>
            <p:cNvPr id="11" name="Text 9"/>
            <p:cNvSpPr/>
            <p:nvPr/>
          </p:nvSpPr>
          <p:spPr>
            <a:xfrm>
              <a:off x="722376" y="2240280"/>
              <a:ext cx="23957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Trend_Bitcoin → Volume</a:t>
              </a:r>
              <a:endParaRPr lang="en-US" sz="1320" dirty="0"/>
            </a:p>
          </p:txBody>
        </p:sp>
        <p:sp>
          <p:nvSpPr>
            <p:cNvPr id="12" name="Text 10"/>
            <p:cNvSpPr/>
            <p:nvPr/>
          </p:nvSpPr>
          <p:spPr>
            <a:xfrm>
              <a:off x="3191256" y="2240280"/>
              <a:ext cx="97840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2</a:t>
              </a:r>
              <a:endParaRPr lang="en-US" sz="1320" dirty="0"/>
            </a:p>
          </p:txBody>
        </p:sp>
        <p:sp>
          <p:nvSpPr>
            <p:cNvPr id="13" name="Text 11"/>
            <p:cNvSpPr/>
            <p:nvPr/>
          </p:nvSpPr>
          <p:spPr>
            <a:xfrm>
              <a:off x="4242816" y="2240280"/>
              <a:ext cx="116128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2.17e-07</a:t>
              </a:r>
              <a:endParaRPr lang="en-US" sz="1320" dirty="0"/>
            </a:p>
          </p:txBody>
        </p:sp>
        <p:sp>
          <p:nvSpPr>
            <p:cNvPr id="14" name="Text 12"/>
            <p:cNvSpPr/>
            <p:nvPr/>
          </p:nvSpPr>
          <p:spPr>
            <a:xfrm>
              <a:off x="5477256" y="2240280"/>
              <a:ext cx="17099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Strongest evidence</a:t>
              </a:r>
              <a:endParaRPr lang="en-US" sz="1320" dirty="0"/>
            </a:p>
          </p:txBody>
        </p:sp>
        <p:sp>
          <p:nvSpPr>
            <p:cNvPr id="16" name="Text 14"/>
            <p:cNvSpPr/>
            <p:nvPr/>
          </p:nvSpPr>
          <p:spPr>
            <a:xfrm>
              <a:off x="722376" y="2834640"/>
              <a:ext cx="23957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Trend_Bitcoin → Log Returns</a:t>
              </a:r>
              <a:endParaRPr lang="en-US" sz="1320" dirty="0"/>
            </a:p>
          </p:txBody>
        </p:sp>
        <p:sp>
          <p:nvSpPr>
            <p:cNvPr id="17" name="Text 15"/>
            <p:cNvSpPr/>
            <p:nvPr/>
          </p:nvSpPr>
          <p:spPr>
            <a:xfrm>
              <a:off x="3191256" y="2834640"/>
              <a:ext cx="97840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1</a:t>
              </a:r>
              <a:endParaRPr lang="en-US" sz="1320" dirty="0"/>
            </a:p>
          </p:txBody>
        </p:sp>
        <p:sp>
          <p:nvSpPr>
            <p:cNvPr id="18" name="Text 16"/>
            <p:cNvSpPr/>
            <p:nvPr/>
          </p:nvSpPr>
          <p:spPr>
            <a:xfrm>
              <a:off x="4242816" y="2834640"/>
              <a:ext cx="116128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0.0069</a:t>
              </a:r>
              <a:endParaRPr lang="en-US" sz="1320" dirty="0"/>
            </a:p>
          </p:txBody>
        </p:sp>
        <p:sp>
          <p:nvSpPr>
            <p:cNvPr id="19" name="Text 17"/>
            <p:cNvSpPr/>
            <p:nvPr/>
          </p:nvSpPr>
          <p:spPr>
            <a:xfrm>
              <a:off x="5477256" y="2834640"/>
              <a:ext cx="17099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Short-run predictive evidence</a:t>
              </a:r>
              <a:endParaRPr lang="en-US" sz="1320" dirty="0"/>
            </a:p>
          </p:txBody>
        </p:sp>
        <p:sp>
          <p:nvSpPr>
            <p:cNvPr id="21" name="Text 19"/>
            <p:cNvSpPr/>
            <p:nvPr/>
          </p:nvSpPr>
          <p:spPr>
            <a:xfrm>
              <a:off x="722376" y="3429000"/>
              <a:ext cx="23957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Trend_Bitcoin → Returns</a:t>
              </a:r>
              <a:endParaRPr lang="en-US" sz="1320" dirty="0"/>
            </a:p>
          </p:txBody>
        </p:sp>
        <p:sp>
          <p:nvSpPr>
            <p:cNvPr id="22" name="Text 20"/>
            <p:cNvSpPr/>
            <p:nvPr/>
          </p:nvSpPr>
          <p:spPr>
            <a:xfrm>
              <a:off x="3191256" y="3429000"/>
              <a:ext cx="97840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1</a:t>
              </a:r>
              <a:endParaRPr lang="en-US" sz="1320" dirty="0"/>
            </a:p>
          </p:txBody>
        </p:sp>
        <p:sp>
          <p:nvSpPr>
            <p:cNvPr id="23" name="Text 21"/>
            <p:cNvSpPr/>
            <p:nvPr/>
          </p:nvSpPr>
          <p:spPr>
            <a:xfrm>
              <a:off x="4242816" y="3429000"/>
              <a:ext cx="116128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0.0073</a:t>
              </a:r>
              <a:endParaRPr lang="en-US" sz="1320" dirty="0"/>
            </a:p>
          </p:txBody>
        </p:sp>
        <p:sp>
          <p:nvSpPr>
            <p:cNvPr id="24" name="Text 22"/>
            <p:cNvSpPr/>
            <p:nvPr/>
          </p:nvSpPr>
          <p:spPr>
            <a:xfrm>
              <a:off x="5477256" y="3429000"/>
              <a:ext cx="17099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Short-run predictive evidence</a:t>
              </a:r>
              <a:endParaRPr lang="en-US" sz="1320" dirty="0"/>
            </a:p>
          </p:txBody>
        </p:sp>
        <p:sp>
          <p:nvSpPr>
            <p:cNvPr id="26" name="Text 24"/>
            <p:cNvSpPr/>
            <p:nvPr/>
          </p:nvSpPr>
          <p:spPr>
            <a:xfrm>
              <a:off x="722376" y="4023360"/>
              <a:ext cx="23957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Trend_BTC_Price → Volume</a:t>
              </a:r>
              <a:endParaRPr lang="en-US" sz="1320" dirty="0"/>
            </a:p>
          </p:txBody>
        </p:sp>
        <p:sp>
          <p:nvSpPr>
            <p:cNvPr id="27" name="Text 25"/>
            <p:cNvSpPr/>
            <p:nvPr/>
          </p:nvSpPr>
          <p:spPr>
            <a:xfrm>
              <a:off x="3191256" y="4023360"/>
              <a:ext cx="97840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2</a:t>
              </a:r>
              <a:endParaRPr lang="en-US" sz="1320" dirty="0"/>
            </a:p>
          </p:txBody>
        </p:sp>
        <p:sp>
          <p:nvSpPr>
            <p:cNvPr id="28" name="Text 26"/>
            <p:cNvSpPr/>
            <p:nvPr/>
          </p:nvSpPr>
          <p:spPr>
            <a:xfrm>
              <a:off x="4242816" y="4023360"/>
              <a:ext cx="116128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0.0075</a:t>
              </a:r>
              <a:endParaRPr lang="en-US" sz="1320" dirty="0"/>
            </a:p>
          </p:txBody>
        </p:sp>
        <p:sp>
          <p:nvSpPr>
            <p:cNvPr id="29" name="Text 27"/>
            <p:cNvSpPr/>
            <p:nvPr/>
          </p:nvSpPr>
          <p:spPr>
            <a:xfrm>
              <a:off x="5477256" y="4023360"/>
              <a:ext cx="17099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Significant</a:t>
              </a:r>
              <a:endParaRPr lang="en-US" sz="1320" dirty="0"/>
            </a:p>
          </p:txBody>
        </p:sp>
        <p:sp>
          <p:nvSpPr>
            <p:cNvPr id="31" name="Text 29"/>
            <p:cNvSpPr/>
            <p:nvPr/>
          </p:nvSpPr>
          <p:spPr>
            <a:xfrm>
              <a:off x="722376" y="4617720"/>
              <a:ext cx="23957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Buy Bitcoin → Volume</a:t>
              </a:r>
              <a:endParaRPr lang="en-US" sz="1320" dirty="0"/>
            </a:p>
          </p:txBody>
        </p:sp>
        <p:sp>
          <p:nvSpPr>
            <p:cNvPr id="32" name="Text 30"/>
            <p:cNvSpPr/>
            <p:nvPr/>
          </p:nvSpPr>
          <p:spPr>
            <a:xfrm>
              <a:off x="3191256" y="4617720"/>
              <a:ext cx="97840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4</a:t>
              </a:r>
              <a:endParaRPr lang="en-US" sz="1320" dirty="0"/>
            </a:p>
          </p:txBody>
        </p:sp>
        <p:sp>
          <p:nvSpPr>
            <p:cNvPr id="33" name="Text 31"/>
            <p:cNvSpPr/>
            <p:nvPr/>
          </p:nvSpPr>
          <p:spPr>
            <a:xfrm>
              <a:off x="4242816" y="4617720"/>
              <a:ext cx="116128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0.0447</a:t>
              </a:r>
              <a:endParaRPr lang="en-US" sz="1320" dirty="0"/>
            </a:p>
          </p:txBody>
        </p:sp>
        <p:sp>
          <p:nvSpPr>
            <p:cNvPr id="34" name="Text 32"/>
            <p:cNvSpPr/>
            <p:nvPr/>
          </p:nvSpPr>
          <p:spPr>
            <a:xfrm>
              <a:off x="5477256" y="4617720"/>
              <a:ext cx="1709928" cy="521208"/>
            </a:xfrm>
            <a:prstGeom prst="rect">
              <a:avLst/>
            </a:prstGeom>
            <a:noFill/>
            <a:ln/>
          </p:spPr>
          <p:txBody>
            <a:bodyPr wrap="square" lIns="0" tIns="0" rIns="0" bIns="0" rtlCol="0" anchor="ctr">
              <a:normAutofit/>
            </a:bodyPr>
            <a:lstStyle/>
            <a:p>
              <a:pPr marL="0" indent="0">
                <a:buNone/>
              </a:pPr>
              <a:r>
                <a:rPr lang="en-US" sz="1320" dirty="0">
                  <a:solidFill>
                    <a:srgbClr val="0F172A"/>
                  </a:solidFill>
                  <a:latin typeface="Aptos" pitchFamily="34" charset="0"/>
                  <a:ea typeface="Aptos" pitchFamily="34" charset="-122"/>
                  <a:cs typeface="Aptos" pitchFamily="34" charset="-120"/>
                </a:rPr>
                <a:t>Weak/significant at 5%</a:t>
              </a:r>
              <a:endParaRPr lang="en-US" sz="1320" dirty="0"/>
            </a:p>
          </p:txBody>
        </p:sp>
      </p:grpSp>
      <p:sp>
        <p:nvSpPr>
          <p:cNvPr id="35" name="Shape 33"/>
          <p:cNvSpPr/>
          <p:nvPr/>
        </p:nvSpPr>
        <p:spPr>
          <a:xfrm>
            <a:off x="685800" y="5148072"/>
            <a:ext cx="6537960" cy="0"/>
          </a:xfrm>
          <a:prstGeom prst="line">
            <a:avLst/>
          </a:prstGeom>
          <a:noFill/>
          <a:ln w="7620">
            <a:solidFill>
              <a:srgbClr val="E2E8F0"/>
            </a:solidFill>
            <a:prstDash val="solid"/>
          </a:ln>
        </p:spPr>
        <p:txBody>
          <a:bodyPr/>
          <a:lstStyle/>
          <a:p>
            <a:endParaRPr lang="en-ZA"/>
          </a:p>
        </p:txBody>
      </p:sp>
      <p:sp>
        <p:nvSpPr>
          <p:cNvPr id="36" name="Shape 34"/>
          <p:cNvSpPr/>
          <p:nvPr/>
        </p:nvSpPr>
        <p:spPr>
          <a:xfrm>
            <a:off x="7543800" y="1600200"/>
            <a:ext cx="3886200" cy="1005840"/>
          </a:xfrm>
          <a:prstGeom prst="roundRect">
            <a:avLst>
              <a:gd name="adj" fmla="val 7273"/>
            </a:avLst>
          </a:prstGeom>
          <a:solidFill>
            <a:srgbClr val="ECFDF5"/>
          </a:solidFill>
          <a:ln w="12700">
            <a:solidFill>
              <a:srgbClr val="BBF7D0"/>
            </a:solidFill>
            <a:prstDash val="solid"/>
          </a:ln>
        </p:spPr>
        <p:txBody>
          <a:bodyPr/>
          <a:lstStyle/>
          <a:p>
            <a:endParaRPr lang="en-ZA"/>
          </a:p>
        </p:txBody>
      </p:sp>
      <p:sp>
        <p:nvSpPr>
          <p:cNvPr id="37" name="Text 35"/>
          <p:cNvSpPr/>
          <p:nvPr/>
        </p:nvSpPr>
        <p:spPr>
          <a:xfrm>
            <a:off x="7726680" y="1783080"/>
            <a:ext cx="3474720" cy="219456"/>
          </a:xfrm>
          <a:prstGeom prst="rect">
            <a:avLst/>
          </a:prstGeom>
          <a:noFill/>
          <a:ln/>
        </p:spPr>
        <p:txBody>
          <a:bodyPr wrap="square" lIns="0" tIns="0" rIns="0" bIns="0" rtlCol="0" anchor="ctr"/>
          <a:lstStyle/>
          <a:p>
            <a:pPr marL="0" indent="0">
              <a:buNone/>
            </a:pPr>
            <a:r>
              <a:rPr lang="en-US" sz="1800" b="1" dirty="0">
                <a:solidFill>
                  <a:srgbClr val="047857"/>
                </a:solidFill>
              </a:rPr>
              <a:t>Volume result is robust</a:t>
            </a:r>
            <a:endParaRPr lang="en-US" sz="1800" dirty="0"/>
          </a:p>
        </p:txBody>
      </p:sp>
      <p:sp>
        <p:nvSpPr>
          <p:cNvPr id="38" name="Text 36"/>
          <p:cNvSpPr/>
          <p:nvPr/>
        </p:nvSpPr>
        <p:spPr>
          <a:xfrm>
            <a:off x="7726680" y="2121408"/>
            <a:ext cx="3429000" cy="228600"/>
          </a:xfrm>
          <a:prstGeom prst="rect">
            <a:avLst/>
          </a:prstGeom>
          <a:noFill/>
          <a:ln/>
        </p:spPr>
        <p:txBody>
          <a:bodyPr wrap="square" lIns="0" tIns="0" rIns="0" bIns="0" rtlCol="0" anchor="ctr"/>
          <a:lstStyle/>
          <a:p>
            <a:pPr marL="0" indent="0">
              <a:buNone/>
            </a:pPr>
            <a:r>
              <a:rPr lang="en-US" sz="1380" dirty="0">
                <a:solidFill>
                  <a:srgbClr val="0F172A"/>
                </a:solidFill>
              </a:rPr>
              <a:t>Search attention appears to precede market participation.</a:t>
            </a:r>
            <a:endParaRPr lang="en-US" sz="1380" dirty="0"/>
          </a:p>
        </p:txBody>
      </p:sp>
      <p:sp>
        <p:nvSpPr>
          <p:cNvPr id="39" name="Shape 37"/>
          <p:cNvSpPr/>
          <p:nvPr/>
        </p:nvSpPr>
        <p:spPr>
          <a:xfrm>
            <a:off x="7543800" y="2880360"/>
            <a:ext cx="3886200" cy="1005840"/>
          </a:xfrm>
          <a:prstGeom prst="roundRect">
            <a:avLst>
              <a:gd name="adj" fmla="val 7273"/>
            </a:avLst>
          </a:prstGeom>
          <a:solidFill>
            <a:srgbClr val="EFF6FF"/>
          </a:solidFill>
          <a:ln w="12700">
            <a:solidFill>
              <a:srgbClr val="BFDBFE"/>
            </a:solidFill>
            <a:prstDash val="solid"/>
          </a:ln>
        </p:spPr>
        <p:txBody>
          <a:bodyPr/>
          <a:lstStyle/>
          <a:p>
            <a:endParaRPr lang="en-ZA"/>
          </a:p>
        </p:txBody>
      </p:sp>
      <p:sp>
        <p:nvSpPr>
          <p:cNvPr id="40" name="Text 38"/>
          <p:cNvSpPr/>
          <p:nvPr/>
        </p:nvSpPr>
        <p:spPr>
          <a:xfrm>
            <a:off x="7726680" y="3063240"/>
            <a:ext cx="3474720" cy="219456"/>
          </a:xfrm>
          <a:prstGeom prst="rect">
            <a:avLst/>
          </a:prstGeom>
          <a:noFill/>
          <a:ln/>
        </p:spPr>
        <p:txBody>
          <a:bodyPr wrap="square" lIns="0" tIns="0" rIns="0" bIns="0" rtlCol="0" anchor="ctr"/>
          <a:lstStyle/>
          <a:p>
            <a:pPr marL="0" indent="0">
              <a:buNone/>
            </a:pPr>
            <a:r>
              <a:rPr lang="en-US" sz="1800" b="1" dirty="0">
                <a:solidFill>
                  <a:srgbClr val="2563EB"/>
                </a:solidFill>
              </a:rPr>
              <a:t>Return result is cautious</a:t>
            </a:r>
            <a:endParaRPr lang="en-US" sz="1800" dirty="0"/>
          </a:p>
        </p:txBody>
      </p:sp>
      <p:sp>
        <p:nvSpPr>
          <p:cNvPr id="41" name="Text 39"/>
          <p:cNvSpPr/>
          <p:nvPr/>
        </p:nvSpPr>
        <p:spPr>
          <a:xfrm>
            <a:off x="7726680" y="3401568"/>
            <a:ext cx="3429000" cy="228600"/>
          </a:xfrm>
          <a:prstGeom prst="rect">
            <a:avLst/>
          </a:prstGeom>
          <a:noFill/>
          <a:ln/>
        </p:spPr>
        <p:txBody>
          <a:bodyPr wrap="square" lIns="0" tIns="0" rIns="0" bIns="0" rtlCol="0" anchor="ctr"/>
          <a:lstStyle/>
          <a:p>
            <a:pPr marL="0" indent="0">
              <a:buNone/>
            </a:pPr>
            <a:r>
              <a:rPr lang="en-US" sz="1380" dirty="0">
                <a:solidFill>
                  <a:srgbClr val="0F172A"/>
                </a:solidFill>
              </a:rPr>
              <a:t>Statistically significant, but economic usefulness is limited.</a:t>
            </a:r>
            <a:endParaRPr lang="en-US" sz="1380" dirty="0"/>
          </a:p>
        </p:txBody>
      </p:sp>
      <p:sp>
        <p:nvSpPr>
          <p:cNvPr id="42" name="Shape 40"/>
          <p:cNvSpPr/>
          <p:nvPr/>
        </p:nvSpPr>
        <p:spPr>
          <a:xfrm>
            <a:off x="7543800" y="4160520"/>
            <a:ext cx="3886200" cy="1005840"/>
          </a:xfrm>
          <a:prstGeom prst="roundRect">
            <a:avLst>
              <a:gd name="adj" fmla="val 7273"/>
            </a:avLst>
          </a:prstGeom>
          <a:solidFill>
            <a:srgbClr val="FEF3C7"/>
          </a:solidFill>
          <a:ln w="12700">
            <a:solidFill>
              <a:srgbClr val="FDE68A"/>
            </a:solidFill>
            <a:prstDash val="solid"/>
          </a:ln>
        </p:spPr>
        <p:txBody>
          <a:bodyPr/>
          <a:lstStyle/>
          <a:p>
            <a:endParaRPr lang="en-ZA"/>
          </a:p>
        </p:txBody>
      </p:sp>
      <p:sp>
        <p:nvSpPr>
          <p:cNvPr id="43" name="Text 41"/>
          <p:cNvSpPr/>
          <p:nvPr/>
        </p:nvSpPr>
        <p:spPr>
          <a:xfrm>
            <a:off x="7726680" y="4343400"/>
            <a:ext cx="3474720" cy="219456"/>
          </a:xfrm>
          <a:prstGeom prst="rect">
            <a:avLst/>
          </a:prstGeom>
          <a:noFill/>
          <a:ln/>
        </p:spPr>
        <p:txBody>
          <a:bodyPr wrap="square" lIns="0" tIns="0" rIns="0" bIns="0" rtlCol="0" anchor="ctr"/>
          <a:lstStyle/>
          <a:p>
            <a:pPr marL="0" indent="0">
              <a:buNone/>
            </a:pPr>
            <a:r>
              <a:rPr lang="en-US" sz="1800" b="1" dirty="0">
                <a:solidFill>
                  <a:srgbClr val="92400E"/>
                </a:solidFill>
              </a:rPr>
              <a:t>Causality wording</a:t>
            </a:r>
            <a:endParaRPr lang="en-US" sz="1800" dirty="0"/>
          </a:p>
        </p:txBody>
      </p:sp>
      <p:sp>
        <p:nvSpPr>
          <p:cNvPr id="44" name="Text 42"/>
          <p:cNvSpPr/>
          <p:nvPr/>
        </p:nvSpPr>
        <p:spPr>
          <a:xfrm>
            <a:off x="7726680" y="4681728"/>
            <a:ext cx="3429000" cy="228600"/>
          </a:xfrm>
          <a:prstGeom prst="rect">
            <a:avLst/>
          </a:prstGeom>
          <a:noFill/>
          <a:ln/>
        </p:spPr>
        <p:txBody>
          <a:bodyPr wrap="square" lIns="0" tIns="0" rIns="0" bIns="0" rtlCol="0" anchor="ctr"/>
          <a:lstStyle/>
          <a:p>
            <a:r>
              <a:rPr lang="en-ZA" sz="1400" dirty="0"/>
              <a:t>Granger causality implies predictive precedence, not true economic causation.</a:t>
            </a:r>
            <a:endParaRPr lang="en-US" sz="1380" dirty="0"/>
          </a:p>
        </p:txBody>
      </p:sp>
      <p:sp>
        <p:nvSpPr>
          <p:cNvPr id="45" name="Shape 43"/>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46" name="Text 44"/>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47" name="Text 45"/>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8/12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Machine learning: return prediction does not generalise well</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Random Forest</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Shape 3"/>
          <p:cNvSpPr/>
          <p:nvPr/>
        </p:nvSpPr>
        <p:spPr>
          <a:xfrm>
            <a:off x="958840" y="842562"/>
            <a:ext cx="4234921" cy="2790026"/>
          </a:xfrm>
          <a:prstGeom prst="roundRect">
            <a:avLst>
              <a:gd name="adj" fmla="val 3077"/>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dirty="0"/>
          </a:p>
        </p:txBody>
      </p:sp>
      <p:grpSp>
        <p:nvGrpSpPr>
          <p:cNvPr id="28" name="Group 27">
            <a:extLst>
              <a:ext uri="{FF2B5EF4-FFF2-40B4-BE49-F238E27FC236}">
                <a16:creationId xmlns:a16="http://schemas.microsoft.com/office/drawing/2014/main" id="{2211B6C4-41A0-F515-743B-14A46DCACDF7}"/>
              </a:ext>
            </a:extLst>
          </p:cNvPr>
          <p:cNvGrpSpPr/>
          <p:nvPr/>
        </p:nvGrpSpPr>
        <p:grpSpPr>
          <a:xfrm>
            <a:off x="247045" y="890500"/>
            <a:ext cx="5558116" cy="2752340"/>
            <a:chOff x="804672" y="1170432"/>
            <a:chExt cx="5010912" cy="2118123"/>
          </a:xfrm>
        </p:grpSpPr>
        <p:pic>
          <p:nvPicPr>
            <p:cNvPr id="6" name="Image 0" descr="/mnt/data/notebook_figures/cell53_out03.png"/>
            <p:cNvPicPr>
              <a:picLocks noChangeAspect="1"/>
            </p:cNvPicPr>
            <p:nvPr/>
          </p:nvPicPr>
          <p:blipFill>
            <a:blip r:embed="rId3"/>
            <a:stretch>
              <a:fillRect/>
            </a:stretch>
          </p:blipFill>
          <p:spPr>
            <a:xfrm>
              <a:off x="1753893" y="1170432"/>
              <a:ext cx="3112470" cy="1965960"/>
            </a:xfrm>
            <a:prstGeom prst="rect">
              <a:avLst/>
            </a:prstGeom>
          </p:spPr>
        </p:pic>
        <p:sp>
          <p:nvSpPr>
            <p:cNvPr id="7" name="Text 4"/>
            <p:cNvSpPr/>
            <p:nvPr/>
          </p:nvSpPr>
          <p:spPr>
            <a:xfrm>
              <a:off x="804672" y="3087387"/>
              <a:ext cx="5010912" cy="201168"/>
            </a:xfrm>
            <a:prstGeom prst="rect">
              <a:avLst/>
            </a:prstGeom>
            <a:noFill/>
            <a:ln/>
          </p:spPr>
          <p:txBody>
            <a:bodyPr wrap="square" lIns="0" tIns="0" rIns="0" bIns="0" rtlCol="0" anchor="ctr"/>
            <a:lstStyle/>
            <a:p>
              <a:pPr marL="0" indent="0" algn="ctr">
                <a:buNone/>
              </a:pPr>
              <a:r>
                <a:rPr lang="en-US" sz="950" dirty="0">
                  <a:solidFill>
                    <a:srgbClr val="64748B"/>
                  </a:solidFill>
                </a:rPr>
                <a:t>Actual vs predicted returns</a:t>
              </a:r>
              <a:endParaRPr lang="en-US" sz="950" dirty="0"/>
            </a:p>
          </p:txBody>
        </p:sp>
      </p:grpSp>
      <p:sp>
        <p:nvSpPr>
          <p:cNvPr id="8" name="Shape 5"/>
          <p:cNvSpPr/>
          <p:nvPr/>
        </p:nvSpPr>
        <p:spPr>
          <a:xfrm>
            <a:off x="958840" y="3667851"/>
            <a:ext cx="4220961" cy="2806101"/>
          </a:xfrm>
          <a:prstGeom prst="roundRect">
            <a:avLst>
              <a:gd name="adj" fmla="val 3810"/>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grpSp>
        <p:nvGrpSpPr>
          <p:cNvPr id="26" name="Group 25">
            <a:extLst>
              <a:ext uri="{FF2B5EF4-FFF2-40B4-BE49-F238E27FC236}">
                <a16:creationId xmlns:a16="http://schemas.microsoft.com/office/drawing/2014/main" id="{A2F8990E-2130-0F6E-D44F-3675D211E013}"/>
              </a:ext>
            </a:extLst>
          </p:cNvPr>
          <p:cNvGrpSpPr/>
          <p:nvPr/>
        </p:nvGrpSpPr>
        <p:grpSpPr>
          <a:xfrm>
            <a:off x="162322" y="3711013"/>
            <a:ext cx="5827955" cy="2631921"/>
            <a:chOff x="868257" y="3830296"/>
            <a:chExt cx="5010912" cy="1715828"/>
          </a:xfrm>
        </p:grpSpPr>
        <p:pic>
          <p:nvPicPr>
            <p:cNvPr id="9" name="Image 1" descr="/mnt/data/notebook_figures/cell53_out04.png"/>
            <p:cNvPicPr>
              <a:picLocks noChangeAspect="1"/>
            </p:cNvPicPr>
            <p:nvPr/>
          </p:nvPicPr>
          <p:blipFill>
            <a:blip r:embed="rId4"/>
            <a:stretch>
              <a:fillRect/>
            </a:stretch>
          </p:blipFill>
          <p:spPr>
            <a:xfrm>
              <a:off x="2114770" y="3830296"/>
              <a:ext cx="2431564" cy="1555633"/>
            </a:xfrm>
            <a:prstGeom prst="rect">
              <a:avLst/>
            </a:prstGeom>
          </p:spPr>
        </p:pic>
        <p:sp>
          <p:nvSpPr>
            <p:cNvPr id="10" name="Text 6"/>
            <p:cNvSpPr/>
            <p:nvPr/>
          </p:nvSpPr>
          <p:spPr>
            <a:xfrm>
              <a:off x="868257" y="5344956"/>
              <a:ext cx="5010912" cy="201168"/>
            </a:xfrm>
            <a:prstGeom prst="rect">
              <a:avLst/>
            </a:prstGeom>
            <a:noFill/>
            <a:ln/>
          </p:spPr>
          <p:txBody>
            <a:bodyPr wrap="square" lIns="0" tIns="0" rIns="0" bIns="0" rtlCol="0" anchor="ctr"/>
            <a:lstStyle/>
            <a:p>
              <a:pPr marL="0" indent="0" algn="ctr">
                <a:buNone/>
              </a:pPr>
              <a:r>
                <a:rPr lang="en-US" sz="950" dirty="0">
                  <a:solidFill>
                    <a:srgbClr val="64748B"/>
                  </a:solidFill>
                </a:rPr>
                <a:t>Learning curve: validation error remains high</a:t>
              </a:r>
              <a:endParaRPr lang="en-US" sz="950" dirty="0"/>
            </a:p>
          </p:txBody>
        </p:sp>
      </p:grpSp>
      <p:sp>
        <p:nvSpPr>
          <p:cNvPr id="11" name="Text 7"/>
          <p:cNvSpPr/>
          <p:nvPr/>
        </p:nvSpPr>
        <p:spPr>
          <a:xfrm>
            <a:off x="6400800" y="1097280"/>
            <a:ext cx="4754880" cy="292608"/>
          </a:xfrm>
          <a:prstGeom prst="rect">
            <a:avLst/>
          </a:prstGeom>
          <a:noFill/>
          <a:ln/>
        </p:spPr>
        <p:txBody>
          <a:bodyPr wrap="square" lIns="0" tIns="0" rIns="0" bIns="0" rtlCol="0" anchor="ctr"/>
          <a:lstStyle/>
          <a:p>
            <a:pPr marL="0" indent="0">
              <a:buNone/>
            </a:pPr>
            <a:r>
              <a:rPr lang="en-US" sz="2200" b="1" dirty="0">
                <a:solidFill>
                  <a:srgbClr val="0F172A"/>
                </a:solidFill>
              </a:rPr>
              <a:t>Random Forest Regressor results</a:t>
            </a:r>
            <a:endParaRPr lang="en-US" sz="2200" dirty="0"/>
          </a:p>
        </p:txBody>
      </p:sp>
      <p:sp>
        <p:nvSpPr>
          <p:cNvPr id="12" name="Shape 8"/>
          <p:cNvSpPr/>
          <p:nvPr/>
        </p:nvSpPr>
        <p:spPr>
          <a:xfrm>
            <a:off x="6400800" y="1600200"/>
            <a:ext cx="14630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13" name="Text 9"/>
          <p:cNvSpPr/>
          <p:nvPr/>
        </p:nvSpPr>
        <p:spPr>
          <a:xfrm>
            <a:off x="6528816" y="1728216"/>
            <a:ext cx="1207008" cy="310896"/>
          </a:xfrm>
          <a:prstGeom prst="rect">
            <a:avLst/>
          </a:prstGeom>
          <a:noFill/>
          <a:ln/>
        </p:spPr>
        <p:txBody>
          <a:bodyPr wrap="square" lIns="0" tIns="0" rIns="0" bIns="0" rtlCol="0" anchor="ctr"/>
          <a:lstStyle/>
          <a:p>
            <a:pPr marL="0" indent="0">
              <a:buNone/>
            </a:pPr>
            <a:r>
              <a:rPr lang="en-US" sz="2300" b="1" dirty="0">
                <a:solidFill>
                  <a:srgbClr val="2563EB"/>
                </a:solidFill>
              </a:rPr>
              <a:t>0.032</a:t>
            </a:r>
            <a:endParaRPr lang="en-US" sz="2300" dirty="0"/>
          </a:p>
        </p:txBody>
      </p:sp>
      <p:sp>
        <p:nvSpPr>
          <p:cNvPr id="14" name="Text 10"/>
          <p:cNvSpPr/>
          <p:nvPr/>
        </p:nvSpPr>
        <p:spPr>
          <a:xfrm>
            <a:off x="6528816" y="2130552"/>
            <a:ext cx="1207008" cy="256032"/>
          </a:xfrm>
          <a:prstGeom prst="rect">
            <a:avLst/>
          </a:prstGeom>
          <a:noFill/>
          <a:ln/>
        </p:spPr>
        <p:txBody>
          <a:bodyPr wrap="square" lIns="0" tIns="0" rIns="0" bIns="0" rtlCol="0" anchor="ctr"/>
          <a:lstStyle/>
          <a:p>
            <a:pPr marL="0" indent="0">
              <a:buNone/>
            </a:pPr>
            <a:r>
              <a:rPr lang="en-US" sz="1150" dirty="0">
                <a:solidFill>
                  <a:srgbClr val="334155"/>
                </a:solidFill>
              </a:rPr>
              <a:t>Train RMSE</a:t>
            </a:r>
            <a:endParaRPr lang="en-US" sz="1150" dirty="0"/>
          </a:p>
        </p:txBody>
      </p:sp>
      <p:sp>
        <p:nvSpPr>
          <p:cNvPr id="15" name="Shape 11"/>
          <p:cNvSpPr/>
          <p:nvPr/>
        </p:nvSpPr>
        <p:spPr>
          <a:xfrm>
            <a:off x="8138160" y="1600200"/>
            <a:ext cx="14630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16" name="Text 12"/>
          <p:cNvSpPr/>
          <p:nvPr/>
        </p:nvSpPr>
        <p:spPr>
          <a:xfrm>
            <a:off x="8266176" y="1728216"/>
            <a:ext cx="1207008" cy="310896"/>
          </a:xfrm>
          <a:prstGeom prst="rect">
            <a:avLst/>
          </a:prstGeom>
          <a:noFill/>
          <a:ln/>
        </p:spPr>
        <p:txBody>
          <a:bodyPr wrap="square" lIns="0" tIns="0" rIns="0" bIns="0" rtlCol="0" anchor="ctr"/>
          <a:lstStyle/>
          <a:p>
            <a:r>
              <a:rPr lang="en-ZA" sz="2400" dirty="0">
                <a:solidFill>
                  <a:srgbClr val="FF0000"/>
                </a:solidFill>
              </a:rPr>
              <a:t>0.594</a:t>
            </a:r>
            <a:endParaRPr lang="en-US" sz="2300" dirty="0">
              <a:solidFill>
                <a:srgbClr val="FF0000"/>
              </a:solidFill>
            </a:endParaRPr>
          </a:p>
        </p:txBody>
      </p:sp>
      <p:sp>
        <p:nvSpPr>
          <p:cNvPr id="17" name="Text 13"/>
          <p:cNvSpPr/>
          <p:nvPr/>
        </p:nvSpPr>
        <p:spPr>
          <a:xfrm>
            <a:off x="8266176" y="2130552"/>
            <a:ext cx="1207008" cy="256032"/>
          </a:xfrm>
          <a:prstGeom prst="rect">
            <a:avLst/>
          </a:prstGeom>
          <a:noFill/>
          <a:ln/>
        </p:spPr>
        <p:txBody>
          <a:bodyPr wrap="square" lIns="0" tIns="0" rIns="0" bIns="0" rtlCol="0" anchor="ctr"/>
          <a:lstStyle/>
          <a:p>
            <a:pPr marL="0" indent="0">
              <a:buNone/>
            </a:pPr>
            <a:r>
              <a:rPr lang="en-US" sz="1150" dirty="0">
                <a:solidFill>
                  <a:srgbClr val="334155"/>
                </a:solidFill>
              </a:rPr>
              <a:t>Test RMSE</a:t>
            </a:r>
            <a:endParaRPr lang="en-US" sz="1150" dirty="0"/>
          </a:p>
        </p:txBody>
      </p:sp>
      <p:sp>
        <p:nvSpPr>
          <p:cNvPr id="18" name="Shape 14"/>
          <p:cNvSpPr/>
          <p:nvPr/>
        </p:nvSpPr>
        <p:spPr>
          <a:xfrm>
            <a:off x="9875520" y="1600200"/>
            <a:ext cx="146304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19" name="Text 15"/>
          <p:cNvSpPr/>
          <p:nvPr/>
        </p:nvSpPr>
        <p:spPr>
          <a:xfrm>
            <a:off x="10003536" y="1728216"/>
            <a:ext cx="1207008" cy="310896"/>
          </a:xfrm>
          <a:prstGeom prst="rect">
            <a:avLst/>
          </a:prstGeom>
          <a:noFill/>
          <a:ln/>
        </p:spPr>
        <p:txBody>
          <a:bodyPr wrap="square" lIns="0" tIns="0" rIns="0" bIns="0" rtlCol="0" anchor="ctr"/>
          <a:lstStyle/>
          <a:p>
            <a:r>
              <a:rPr lang="en-ZA" sz="2400" dirty="0">
                <a:solidFill>
                  <a:srgbClr val="FF0000"/>
                </a:solidFill>
              </a:rPr>
              <a:t>-0.847</a:t>
            </a:r>
            <a:endParaRPr lang="en-US" sz="2300" dirty="0">
              <a:solidFill>
                <a:srgbClr val="FF0000"/>
              </a:solidFill>
            </a:endParaRPr>
          </a:p>
        </p:txBody>
      </p:sp>
      <p:sp>
        <p:nvSpPr>
          <p:cNvPr id="20" name="Text 16"/>
          <p:cNvSpPr/>
          <p:nvPr/>
        </p:nvSpPr>
        <p:spPr>
          <a:xfrm>
            <a:off x="10003536" y="2130552"/>
            <a:ext cx="1207008" cy="256032"/>
          </a:xfrm>
          <a:prstGeom prst="rect">
            <a:avLst/>
          </a:prstGeom>
          <a:noFill/>
          <a:ln/>
        </p:spPr>
        <p:txBody>
          <a:bodyPr wrap="square" lIns="0" tIns="0" rIns="0" bIns="0" rtlCol="0" anchor="ctr"/>
          <a:lstStyle/>
          <a:p>
            <a:pPr marL="0" indent="0">
              <a:buNone/>
            </a:pPr>
            <a:r>
              <a:rPr lang="en-US" sz="1150" dirty="0">
                <a:solidFill>
                  <a:srgbClr val="334155"/>
                </a:solidFill>
              </a:rPr>
              <a:t>Test R²</a:t>
            </a:r>
            <a:endParaRPr lang="en-US" sz="1150" dirty="0"/>
          </a:p>
        </p:txBody>
      </p:sp>
      <p:sp>
        <p:nvSpPr>
          <p:cNvPr id="21" name="Text 17"/>
          <p:cNvSpPr/>
          <p:nvPr/>
        </p:nvSpPr>
        <p:spPr>
          <a:xfrm>
            <a:off x="6400800" y="2971800"/>
            <a:ext cx="4846320" cy="2057400"/>
          </a:xfrm>
          <a:prstGeom prst="rect">
            <a:avLst/>
          </a:prstGeom>
          <a:noFill/>
          <a:ln/>
        </p:spPr>
        <p:txBody>
          <a:bodyPr wrap="square" lIns="381" tIns="381" rIns="381" bIns="381" rtlCol="0" anchor="t">
            <a:normAutofit fontScale="85000" lnSpcReduction="20000"/>
          </a:bodyPr>
          <a:lstStyle/>
          <a:p>
            <a:r>
              <a:rPr lang="en-US" sz="1720" dirty="0">
                <a:solidFill>
                  <a:srgbClr val="0F172A"/>
                </a:solidFill>
              </a:rPr>
              <a:t>Lagged Trend_Bitcoin was the dominant feature in the model.
</a:t>
            </a:r>
            <a:endParaRPr lang="en-US" sz="1720" dirty="0"/>
          </a:p>
          <a:p>
            <a:r>
              <a:rPr lang="en-US" sz="1720" dirty="0">
                <a:solidFill>
                  <a:srgbClr val="0F172A"/>
                </a:solidFill>
              </a:rPr>
              <a:t>The model fitted the training data but missed large late-year return swings.
</a:t>
            </a:r>
            <a:endParaRPr lang="en-US" sz="1720" dirty="0"/>
          </a:p>
          <a:p>
            <a:r>
              <a:rPr lang="en-US" sz="1720" dirty="0">
                <a:solidFill>
                  <a:srgbClr val="0F172A"/>
                </a:solidFill>
              </a:rPr>
              <a:t>Negative out-of-sample R² means the model underperformed a simple benchmark.
</a:t>
            </a:r>
            <a:endParaRPr lang="en-US" sz="1720" dirty="0"/>
          </a:p>
          <a:p>
            <a:r>
              <a:rPr lang="en-US" sz="1720" dirty="0">
                <a:solidFill>
                  <a:srgbClr val="0F172A"/>
                </a:solidFill>
              </a:rPr>
              <a:t>Google Trends alone is not reliable for forecasting return direction.</a:t>
            </a:r>
            <a:endParaRPr lang="en-US" sz="1720" dirty="0"/>
          </a:p>
        </p:txBody>
      </p:sp>
      <p:sp>
        <p:nvSpPr>
          <p:cNvPr id="22" name="Text 18"/>
          <p:cNvSpPr/>
          <p:nvPr/>
        </p:nvSpPr>
        <p:spPr>
          <a:xfrm>
            <a:off x="6400800" y="5504688"/>
            <a:ext cx="4846320" cy="420624"/>
          </a:xfrm>
          <a:prstGeom prst="rect">
            <a:avLst/>
          </a:prstGeom>
          <a:noFill/>
          <a:ln/>
        </p:spPr>
        <p:txBody>
          <a:bodyPr wrap="square" lIns="0" tIns="0" rIns="0" bIns="0" rtlCol="0" anchor="ctr">
            <a:normAutofit fontScale="85000" lnSpcReduction="10000"/>
          </a:bodyPr>
          <a:lstStyle/>
          <a:p>
            <a:pPr marL="0" indent="0">
              <a:buNone/>
            </a:pPr>
            <a:r>
              <a:rPr lang="en-US" sz="1680" b="1" dirty="0">
                <a:solidFill>
                  <a:srgbClr val="334155"/>
                </a:solidFill>
              </a:rPr>
              <a:t>Decision: use Google Trends as a supplementary attention signal, not a standalone return-forecasting model.</a:t>
            </a:r>
            <a:endParaRPr lang="en-US" sz="1680" dirty="0"/>
          </a:p>
        </p:txBody>
      </p:sp>
      <p:sp>
        <p:nvSpPr>
          <p:cNvPr id="23" name="Shape 19"/>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24" name="Text 20"/>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25" name="Text 21"/>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9/12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Volatility modelling: attention has limited incremental value</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GARCH &amp; volatility</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Shape 3"/>
          <p:cNvSpPr/>
          <p:nvPr/>
        </p:nvSpPr>
        <p:spPr>
          <a:xfrm>
            <a:off x="658368" y="1097280"/>
            <a:ext cx="5212080" cy="2331720"/>
          </a:xfrm>
          <a:prstGeom prst="roundRect">
            <a:avLst>
              <a:gd name="adj" fmla="val 3137"/>
            </a:avLst>
          </a:prstGeom>
          <a:solidFill>
            <a:srgbClr val="FFFFFF"/>
          </a:solidFill>
          <a:ln w="12700">
            <a:solidFill>
              <a:srgbClr val="E2E8F0"/>
            </a:solidFill>
            <a:prstDash val="solid"/>
          </a:ln>
          <a:effectLst>
            <a:outerShdw blurRad="17780" dist="12700" dir="2700000" algn="bl" rotWithShape="0">
              <a:srgbClr val="000000">
                <a:alpha val="9000"/>
              </a:srgbClr>
            </a:outerShdw>
          </a:effectLst>
        </p:spPr>
        <p:txBody>
          <a:bodyPr/>
          <a:lstStyle/>
          <a:p>
            <a:endParaRPr lang="en-ZA"/>
          </a:p>
        </p:txBody>
      </p:sp>
      <p:pic>
        <p:nvPicPr>
          <p:cNvPr id="6" name="Image 0" descr="/mnt/data/notebook_figures/cell61_out01.png"/>
          <p:cNvPicPr>
            <a:picLocks noChangeAspect="1"/>
          </p:cNvPicPr>
          <p:nvPr/>
        </p:nvPicPr>
        <p:blipFill>
          <a:blip r:embed="rId3"/>
          <a:stretch>
            <a:fillRect/>
          </a:stretch>
        </p:blipFill>
        <p:spPr>
          <a:xfrm>
            <a:off x="1491609" y="1170432"/>
            <a:ext cx="3545599" cy="1920240"/>
          </a:xfrm>
          <a:prstGeom prst="rect">
            <a:avLst/>
          </a:prstGeom>
        </p:spPr>
      </p:pic>
      <p:sp>
        <p:nvSpPr>
          <p:cNvPr id="7" name="Text 4"/>
          <p:cNvSpPr/>
          <p:nvPr/>
        </p:nvSpPr>
        <p:spPr>
          <a:xfrm>
            <a:off x="804672" y="3118104"/>
            <a:ext cx="4919472" cy="201168"/>
          </a:xfrm>
          <a:prstGeom prst="rect">
            <a:avLst/>
          </a:prstGeom>
          <a:noFill/>
          <a:ln/>
        </p:spPr>
        <p:txBody>
          <a:bodyPr wrap="square" lIns="0" tIns="0" rIns="0" bIns="0" rtlCol="0" anchor="ctr"/>
          <a:lstStyle/>
          <a:p>
            <a:pPr marL="0" indent="0" algn="ctr">
              <a:buNone/>
            </a:pPr>
            <a:r>
              <a:rPr lang="en-US" sz="950" dirty="0">
                <a:solidFill>
                  <a:srgbClr val="64748B"/>
                </a:solidFill>
              </a:rPr>
              <a:t>GARCH(1,1) conditional volatility</a:t>
            </a:r>
            <a:endParaRPr lang="en-US" sz="950" dirty="0"/>
          </a:p>
        </p:txBody>
      </p:sp>
      <p:sp>
        <p:nvSpPr>
          <p:cNvPr id="8" name="Text 5"/>
          <p:cNvSpPr/>
          <p:nvPr/>
        </p:nvSpPr>
        <p:spPr>
          <a:xfrm>
            <a:off x="6300216" y="1143000"/>
            <a:ext cx="1024128" cy="393192"/>
          </a:xfrm>
          <a:prstGeom prst="rect">
            <a:avLst/>
          </a:prstGeom>
          <a:noFill/>
          <a:ln/>
        </p:spPr>
        <p:txBody>
          <a:bodyPr wrap="square" lIns="0" tIns="0" rIns="0" bIns="0" rtlCol="0" anchor="ctr">
            <a:normAutofit/>
          </a:bodyPr>
          <a:lstStyle/>
          <a:p>
            <a:pPr marL="0" indent="0">
              <a:buNone/>
            </a:pPr>
            <a:r>
              <a:rPr lang="en-US" sz="1240" b="1" dirty="0">
                <a:solidFill>
                  <a:srgbClr val="2563EB"/>
                </a:solidFill>
                <a:latin typeface="Aptos" pitchFamily="34" charset="0"/>
                <a:ea typeface="Aptos" pitchFamily="34" charset="-122"/>
                <a:cs typeface="Aptos" pitchFamily="34" charset="-120"/>
              </a:rPr>
              <a:t>Component</a:t>
            </a:r>
            <a:endParaRPr lang="en-US" sz="1240" dirty="0"/>
          </a:p>
        </p:txBody>
      </p:sp>
      <p:sp>
        <p:nvSpPr>
          <p:cNvPr id="9" name="Text 6"/>
          <p:cNvSpPr/>
          <p:nvPr/>
        </p:nvSpPr>
        <p:spPr>
          <a:xfrm>
            <a:off x="7397496" y="1143000"/>
            <a:ext cx="1481328" cy="393192"/>
          </a:xfrm>
          <a:prstGeom prst="rect">
            <a:avLst/>
          </a:prstGeom>
          <a:noFill/>
          <a:ln/>
        </p:spPr>
        <p:txBody>
          <a:bodyPr wrap="square" lIns="0" tIns="0" rIns="0" bIns="0" rtlCol="0" anchor="ctr">
            <a:normAutofit/>
          </a:bodyPr>
          <a:lstStyle/>
          <a:p>
            <a:pPr marL="0" indent="0">
              <a:buNone/>
            </a:pPr>
            <a:r>
              <a:rPr lang="en-US" sz="1240" b="1" dirty="0">
                <a:solidFill>
                  <a:srgbClr val="2563EB"/>
                </a:solidFill>
                <a:latin typeface="Aptos" pitchFamily="34" charset="0"/>
                <a:ea typeface="Aptos" pitchFamily="34" charset="-122"/>
                <a:cs typeface="Aptos" pitchFamily="34" charset="-120"/>
              </a:rPr>
              <a:t>Result</a:t>
            </a:r>
            <a:endParaRPr lang="en-US" sz="1240" dirty="0"/>
          </a:p>
        </p:txBody>
      </p:sp>
      <p:sp>
        <p:nvSpPr>
          <p:cNvPr id="10" name="Text 7"/>
          <p:cNvSpPr/>
          <p:nvPr/>
        </p:nvSpPr>
        <p:spPr>
          <a:xfrm>
            <a:off x="8951976" y="1143000"/>
            <a:ext cx="2350008" cy="393192"/>
          </a:xfrm>
          <a:prstGeom prst="rect">
            <a:avLst/>
          </a:prstGeom>
          <a:noFill/>
          <a:ln/>
        </p:spPr>
        <p:txBody>
          <a:bodyPr wrap="square" lIns="0" tIns="0" rIns="0" bIns="0" rtlCol="0" anchor="ctr">
            <a:normAutofit/>
          </a:bodyPr>
          <a:lstStyle/>
          <a:p>
            <a:pPr marL="0" indent="0">
              <a:buNone/>
            </a:pPr>
            <a:r>
              <a:rPr lang="en-US" sz="1240" b="1" dirty="0">
                <a:solidFill>
                  <a:srgbClr val="2563EB"/>
                </a:solidFill>
                <a:latin typeface="Aptos" pitchFamily="34" charset="0"/>
                <a:ea typeface="Aptos" pitchFamily="34" charset="-122"/>
                <a:cs typeface="Aptos" pitchFamily="34" charset="-120"/>
              </a:rPr>
              <a:t>Interpretation</a:t>
            </a:r>
            <a:endParaRPr lang="en-US" sz="1240" dirty="0"/>
          </a:p>
        </p:txBody>
      </p:sp>
      <p:sp>
        <p:nvSpPr>
          <p:cNvPr id="11" name="Shape 8"/>
          <p:cNvSpPr/>
          <p:nvPr/>
        </p:nvSpPr>
        <p:spPr>
          <a:xfrm>
            <a:off x="6263640" y="1545336"/>
            <a:ext cx="5074920" cy="0"/>
          </a:xfrm>
          <a:prstGeom prst="line">
            <a:avLst/>
          </a:prstGeom>
          <a:noFill/>
          <a:ln w="15240">
            <a:solidFill>
              <a:srgbClr val="2563EB"/>
            </a:solidFill>
            <a:prstDash val="solid"/>
          </a:ln>
        </p:spPr>
        <p:txBody>
          <a:bodyPr/>
          <a:lstStyle/>
          <a:p>
            <a:endParaRPr lang="en-ZA"/>
          </a:p>
        </p:txBody>
      </p:sp>
      <p:sp>
        <p:nvSpPr>
          <p:cNvPr id="12" name="Text 9"/>
          <p:cNvSpPr/>
          <p:nvPr/>
        </p:nvSpPr>
        <p:spPr>
          <a:xfrm>
            <a:off x="6300216" y="1609344"/>
            <a:ext cx="10241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μ</a:t>
            </a:r>
            <a:endParaRPr lang="en-US" sz="1240" dirty="0"/>
          </a:p>
        </p:txBody>
      </p:sp>
      <p:sp>
        <p:nvSpPr>
          <p:cNvPr id="13" name="Text 10"/>
          <p:cNvSpPr/>
          <p:nvPr/>
        </p:nvSpPr>
        <p:spPr>
          <a:xfrm>
            <a:off x="7397496" y="1609344"/>
            <a:ext cx="14813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p = 0.763</a:t>
            </a:r>
            <a:endParaRPr lang="en-US" sz="1240" dirty="0"/>
          </a:p>
        </p:txBody>
      </p:sp>
      <p:sp>
        <p:nvSpPr>
          <p:cNvPr id="14" name="Text 11"/>
          <p:cNvSpPr/>
          <p:nvPr/>
        </p:nvSpPr>
        <p:spPr>
          <a:xfrm>
            <a:off x="8951976" y="1609344"/>
            <a:ext cx="2350008" cy="393192"/>
          </a:xfrm>
          <a:prstGeom prst="rect">
            <a:avLst/>
          </a:prstGeom>
          <a:noFill/>
          <a:ln/>
        </p:spPr>
        <p:txBody>
          <a:bodyPr wrap="square" lIns="0" tIns="0" rIns="0" bIns="0" rtlCol="0" anchor="ctr">
            <a:normAutofit/>
          </a:bodyPr>
          <a:lstStyle/>
          <a:p>
            <a:pPr marL="0" indent="0">
              <a:buNone/>
            </a:pPr>
            <a:r>
              <a:rPr lang="en-US" sz="1200" dirty="0">
                <a:solidFill>
                  <a:srgbClr val="0F172A"/>
                </a:solidFill>
                <a:latin typeface="Aptos" panose="020B0004020202020204" pitchFamily="34" charset="0"/>
                <a:ea typeface="Aptos" pitchFamily="34" charset="-122"/>
                <a:cs typeface="Aptos" pitchFamily="34" charset="-120"/>
              </a:rPr>
              <a:t>Mean return not significant</a:t>
            </a:r>
            <a:endParaRPr lang="en-US" sz="1200" dirty="0">
              <a:latin typeface="Aptos" panose="020B0004020202020204" pitchFamily="34" charset="0"/>
            </a:endParaRPr>
          </a:p>
        </p:txBody>
      </p:sp>
      <p:sp>
        <p:nvSpPr>
          <p:cNvPr id="15" name="Shape 12"/>
          <p:cNvSpPr/>
          <p:nvPr/>
        </p:nvSpPr>
        <p:spPr>
          <a:xfrm>
            <a:off x="6263640" y="2011680"/>
            <a:ext cx="5074920" cy="0"/>
          </a:xfrm>
          <a:prstGeom prst="line">
            <a:avLst/>
          </a:prstGeom>
          <a:noFill/>
          <a:ln w="7620">
            <a:solidFill>
              <a:srgbClr val="E2E8F0"/>
            </a:solidFill>
            <a:prstDash val="solid"/>
          </a:ln>
        </p:spPr>
        <p:txBody>
          <a:bodyPr/>
          <a:lstStyle/>
          <a:p>
            <a:endParaRPr lang="en-ZA"/>
          </a:p>
        </p:txBody>
      </p:sp>
      <p:sp>
        <p:nvSpPr>
          <p:cNvPr id="16" name="Text 13"/>
          <p:cNvSpPr/>
          <p:nvPr/>
        </p:nvSpPr>
        <p:spPr>
          <a:xfrm>
            <a:off x="6300216" y="2075688"/>
            <a:ext cx="10241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α₁</a:t>
            </a:r>
            <a:endParaRPr lang="en-US" sz="1240" dirty="0"/>
          </a:p>
        </p:txBody>
      </p:sp>
      <p:sp>
        <p:nvSpPr>
          <p:cNvPr id="17" name="Text 14"/>
          <p:cNvSpPr/>
          <p:nvPr/>
        </p:nvSpPr>
        <p:spPr>
          <a:xfrm>
            <a:off x="7397496" y="2075688"/>
            <a:ext cx="14813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 0; p = 1.000</a:t>
            </a:r>
            <a:endParaRPr lang="en-US" sz="1240" dirty="0"/>
          </a:p>
        </p:txBody>
      </p:sp>
      <p:sp>
        <p:nvSpPr>
          <p:cNvPr id="18" name="Text 15"/>
          <p:cNvSpPr/>
          <p:nvPr/>
        </p:nvSpPr>
        <p:spPr>
          <a:xfrm>
            <a:off x="8951976" y="2075688"/>
            <a:ext cx="2350008" cy="393192"/>
          </a:xfrm>
          <a:prstGeom prst="rect">
            <a:avLst/>
          </a:prstGeom>
          <a:noFill/>
          <a:ln/>
        </p:spPr>
        <p:txBody>
          <a:bodyPr wrap="square" lIns="0" tIns="0" rIns="0" bIns="0" rtlCol="0" anchor="ctr">
            <a:normAutofit/>
          </a:bodyPr>
          <a:lstStyle/>
          <a:p>
            <a:r>
              <a:rPr lang="en-ZA" sz="1200" dirty="0">
                <a:latin typeface="Aptos" panose="020B0004020202020204" pitchFamily="34" charset="0"/>
              </a:rPr>
              <a:t>no shock effect</a:t>
            </a:r>
            <a:endParaRPr lang="en-US" sz="1200" dirty="0">
              <a:latin typeface="Aptos" panose="020B0004020202020204" pitchFamily="34" charset="0"/>
            </a:endParaRPr>
          </a:p>
        </p:txBody>
      </p:sp>
      <p:sp>
        <p:nvSpPr>
          <p:cNvPr id="19" name="Shape 16"/>
          <p:cNvSpPr/>
          <p:nvPr/>
        </p:nvSpPr>
        <p:spPr>
          <a:xfrm>
            <a:off x="6263640" y="2478024"/>
            <a:ext cx="5074920" cy="0"/>
          </a:xfrm>
          <a:prstGeom prst="line">
            <a:avLst/>
          </a:prstGeom>
          <a:noFill/>
          <a:ln w="7620">
            <a:solidFill>
              <a:srgbClr val="E2E8F0"/>
            </a:solidFill>
            <a:prstDash val="solid"/>
          </a:ln>
        </p:spPr>
        <p:txBody>
          <a:bodyPr/>
          <a:lstStyle/>
          <a:p>
            <a:endParaRPr lang="en-ZA"/>
          </a:p>
        </p:txBody>
      </p:sp>
      <p:sp>
        <p:nvSpPr>
          <p:cNvPr id="20" name="Text 17"/>
          <p:cNvSpPr/>
          <p:nvPr/>
        </p:nvSpPr>
        <p:spPr>
          <a:xfrm>
            <a:off x="6300216" y="2542032"/>
            <a:ext cx="10241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β₁</a:t>
            </a:r>
            <a:endParaRPr lang="en-US" sz="1240" dirty="0"/>
          </a:p>
        </p:txBody>
      </p:sp>
      <p:sp>
        <p:nvSpPr>
          <p:cNvPr id="21" name="Text 18"/>
          <p:cNvSpPr/>
          <p:nvPr/>
        </p:nvSpPr>
        <p:spPr>
          <a:xfrm>
            <a:off x="7397496" y="2542032"/>
            <a:ext cx="14813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0.501; p = 0.419</a:t>
            </a:r>
            <a:endParaRPr lang="en-US" sz="1240" dirty="0"/>
          </a:p>
        </p:txBody>
      </p:sp>
      <p:sp>
        <p:nvSpPr>
          <p:cNvPr id="22" name="Text 19"/>
          <p:cNvSpPr/>
          <p:nvPr/>
        </p:nvSpPr>
        <p:spPr>
          <a:xfrm>
            <a:off x="8951976" y="2542032"/>
            <a:ext cx="2350008" cy="393192"/>
          </a:xfrm>
          <a:prstGeom prst="rect">
            <a:avLst/>
          </a:prstGeom>
          <a:noFill/>
          <a:ln/>
        </p:spPr>
        <p:txBody>
          <a:bodyPr wrap="square" lIns="0" tIns="0" rIns="0" bIns="0" rtlCol="0" anchor="ctr">
            <a:normAutofit/>
          </a:bodyPr>
          <a:lstStyle/>
          <a:p>
            <a:r>
              <a:rPr lang="en-ZA" sz="1200" dirty="0">
                <a:latin typeface="Aptos" panose="020B0004020202020204" pitchFamily="34" charset="0"/>
              </a:rPr>
              <a:t>weak </a:t>
            </a:r>
            <a:r>
              <a:rPr lang="en-US" sz="1200" dirty="0">
                <a:solidFill>
                  <a:srgbClr val="0F172A"/>
                </a:solidFill>
                <a:latin typeface="Aptos" panose="020B0004020202020204" pitchFamily="34" charset="0"/>
                <a:ea typeface="Aptos" pitchFamily="34" charset="-122"/>
                <a:cs typeface="Aptos" pitchFamily="34" charset="-120"/>
              </a:rPr>
              <a:t>but insignificant persistence</a:t>
            </a:r>
            <a:endParaRPr lang="en-US" sz="1200" dirty="0">
              <a:latin typeface="Aptos" panose="020B0004020202020204" pitchFamily="34" charset="0"/>
            </a:endParaRPr>
          </a:p>
        </p:txBody>
      </p:sp>
      <p:sp>
        <p:nvSpPr>
          <p:cNvPr id="23" name="Shape 20"/>
          <p:cNvSpPr/>
          <p:nvPr/>
        </p:nvSpPr>
        <p:spPr>
          <a:xfrm>
            <a:off x="6263640" y="2944368"/>
            <a:ext cx="5074920" cy="0"/>
          </a:xfrm>
          <a:prstGeom prst="line">
            <a:avLst/>
          </a:prstGeom>
          <a:noFill/>
          <a:ln w="7620">
            <a:solidFill>
              <a:srgbClr val="E2E8F0"/>
            </a:solidFill>
            <a:prstDash val="solid"/>
          </a:ln>
        </p:spPr>
        <p:txBody>
          <a:bodyPr/>
          <a:lstStyle/>
          <a:p>
            <a:endParaRPr lang="en-ZA"/>
          </a:p>
        </p:txBody>
      </p:sp>
      <p:sp>
        <p:nvSpPr>
          <p:cNvPr id="24" name="Text 21"/>
          <p:cNvSpPr/>
          <p:nvPr/>
        </p:nvSpPr>
        <p:spPr>
          <a:xfrm>
            <a:off x="6300216" y="3008376"/>
            <a:ext cx="10241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α + β</a:t>
            </a:r>
            <a:endParaRPr lang="en-US" sz="1240" dirty="0"/>
          </a:p>
        </p:txBody>
      </p:sp>
      <p:sp>
        <p:nvSpPr>
          <p:cNvPr id="25" name="Text 22"/>
          <p:cNvSpPr/>
          <p:nvPr/>
        </p:nvSpPr>
        <p:spPr>
          <a:xfrm>
            <a:off x="7397496" y="3008376"/>
            <a:ext cx="1481328" cy="393192"/>
          </a:xfrm>
          <a:prstGeom prst="rect">
            <a:avLst/>
          </a:prstGeom>
          <a:noFill/>
          <a:ln/>
        </p:spPr>
        <p:txBody>
          <a:bodyPr wrap="square" lIns="0" tIns="0" rIns="0" bIns="0" rtlCol="0" anchor="ctr">
            <a:normAutofit/>
          </a:bodyPr>
          <a:lstStyle/>
          <a:p>
            <a:pPr marL="0" indent="0">
              <a:buNone/>
            </a:pPr>
            <a:r>
              <a:rPr lang="en-US" sz="1240" dirty="0">
                <a:solidFill>
                  <a:srgbClr val="0F172A"/>
                </a:solidFill>
                <a:latin typeface="Aptos" pitchFamily="34" charset="0"/>
                <a:ea typeface="Aptos" pitchFamily="34" charset="-122"/>
                <a:cs typeface="Aptos" pitchFamily="34" charset="-120"/>
              </a:rPr>
              <a:t>≈ 0.50</a:t>
            </a:r>
            <a:endParaRPr lang="en-US" sz="1240" dirty="0"/>
          </a:p>
        </p:txBody>
      </p:sp>
      <p:sp>
        <p:nvSpPr>
          <p:cNvPr id="26" name="Text 23"/>
          <p:cNvSpPr/>
          <p:nvPr/>
        </p:nvSpPr>
        <p:spPr>
          <a:xfrm>
            <a:off x="8951976" y="3008376"/>
            <a:ext cx="2350008" cy="393192"/>
          </a:xfrm>
          <a:prstGeom prst="rect">
            <a:avLst/>
          </a:prstGeom>
          <a:noFill/>
          <a:ln/>
        </p:spPr>
        <p:txBody>
          <a:bodyPr wrap="square" lIns="0" tIns="0" rIns="0" bIns="0" rtlCol="0" anchor="ctr">
            <a:normAutofit/>
          </a:bodyPr>
          <a:lstStyle/>
          <a:p>
            <a:r>
              <a:rPr lang="en-ZA" sz="1200" dirty="0">
                <a:latin typeface="Aptos" panose="020B0004020202020204" pitchFamily="34" charset="0"/>
              </a:rPr>
              <a:t>low volatility clustering</a:t>
            </a:r>
            <a:endParaRPr lang="en-US" sz="1200" dirty="0">
              <a:latin typeface="Aptos" panose="020B0004020202020204" pitchFamily="34" charset="0"/>
            </a:endParaRPr>
          </a:p>
        </p:txBody>
      </p:sp>
      <p:sp>
        <p:nvSpPr>
          <p:cNvPr id="27" name="Shape 24"/>
          <p:cNvSpPr/>
          <p:nvPr/>
        </p:nvSpPr>
        <p:spPr>
          <a:xfrm>
            <a:off x="6263640" y="3410712"/>
            <a:ext cx="5074920" cy="0"/>
          </a:xfrm>
          <a:prstGeom prst="line">
            <a:avLst/>
          </a:prstGeom>
          <a:noFill/>
          <a:ln w="7620">
            <a:solidFill>
              <a:srgbClr val="E2E8F0"/>
            </a:solidFill>
            <a:prstDash val="solid"/>
          </a:ln>
        </p:spPr>
        <p:txBody>
          <a:bodyPr/>
          <a:lstStyle/>
          <a:p>
            <a:endParaRPr lang="en-ZA"/>
          </a:p>
        </p:txBody>
      </p:sp>
      <p:sp>
        <p:nvSpPr>
          <p:cNvPr id="28" name="Text 25"/>
          <p:cNvSpPr/>
          <p:nvPr/>
        </p:nvSpPr>
        <p:spPr>
          <a:xfrm>
            <a:off x="658368" y="3977640"/>
            <a:ext cx="4754880" cy="292608"/>
          </a:xfrm>
          <a:prstGeom prst="rect">
            <a:avLst/>
          </a:prstGeom>
          <a:noFill/>
          <a:ln/>
        </p:spPr>
        <p:txBody>
          <a:bodyPr wrap="square" lIns="0" tIns="0" rIns="0" bIns="0" rtlCol="0" anchor="ctr"/>
          <a:lstStyle/>
          <a:p>
            <a:pPr marL="0" indent="0">
              <a:buNone/>
            </a:pPr>
            <a:r>
              <a:rPr lang="en-US" sz="2100" b="1" dirty="0">
                <a:solidFill>
                  <a:srgbClr val="0F172A"/>
                </a:solidFill>
              </a:rPr>
              <a:t>Attention → volatility regression</a:t>
            </a:r>
            <a:endParaRPr lang="en-US" sz="2100" dirty="0"/>
          </a:p>
        </p:txBody>
      </p:sp>
      <p:sp>
        <p:nvSpPr>
          <p:cNvPr id="29" name="Shape 26"/>
          <p:cNvSpPr/>
          <p:nvPr/>
        </p:nvSpPr>
        <p:spPr>
          <a:xfrm>
            <a:off x="658368" y="4434840"/>
            <a:ext cx="205740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30" name="Text 27"/>
          <p:cNvSpPr/>
          <p:nvPr/>
        </p:nvSpPr>
        <p:spPr>
          <a:xfrm>
            <a:off x="786384" y="4562856"/>
            <a:ext cx="1801368" cy="310896"/>
          </a:xfrm>
          <a:prstGeom prst="rect">
            <a:avLst/>
          </a:prstGeom>
          <a:noFill/>
          <a:ln/>
        </p:spPr>
        <p:txBody>
          <a:bodyPr wrap="square" lIns="0" tIns="0" rIns="0" bIns="0" rtlCol="0" anchor="ctr"/>
          <a:lstStyle/>
          <a:p>
            <a:pPr marL="0" indent="0">
              <a:buNone/>
            </a:pPr>
            <a:r>
              <a:rPr lang="en-US" sz="2300" b="1" dirty="0">
                <a:solidFill>
                  <a:srgbClr val="10B981"/>
                </a:solidFill>
              </a:rPr>
              <a:t>0.035</a:t>
            </a:r>
            <a:endParaRPr lang="en-US" sz="2300" dirty="0"/>
          </a:p>
        </p:txBody>
      </p:sp>
      <p:sp>
        <p:nvSpPr>
          <p:cNvPr id="31" name="Text 28"/>
          <p:cNvSpPr/>
          <p:nvPr/>
        </p:nvSpPr>
        <p:spPr>
          <a:xfrm>
            <a:off x="786384" y="4965192"/>
            <a:ext cx="1801368" cy="256032"/>
          </a:xfrm>
          <a:prstGeom prst="rect">
            <a:avLst/>
          </a:prstGeom>
          <a:noFill/>
          <a:ln/>
        </p:spPr>
        <p:txBody>
          <a:bodyPr wrap="square" lIns="0" tIns="0" rIns="0" bIns="0" rtlCol="0" anchor="ctr"/>
          <a:lstStyle/>
          <a:p>
            <a:pPr marL="0" indent="0">
              <a:buNone/>
            </a:pPr>
            <a:r>
              <a:rPr lang="en-US" sz="1150" dirty="0">
                <a:solidFill>
                  <a:srgbClr val="334155"/>
                </a:solidFill>
              </a:rPr>
              <a:t>Lag 1 Trend_Bitcoin p-value</a:t>
            </a:r>
            <a:endParaRPr lang="en-US" sz="1150" dirty="0"/>
          </a:p>
        </p:txBody>
      </p:sp>
      <p:sp>
        <p:nvSpPr>
          <p:cNvPr id="32" name="Shape 29"/>
          <p:cNvSpPr/>
          <p:nvPr/>
        </p:nvSpPr>
        <p:spPr>
          <a:xfrm>
            <a:off x="2944368" y="4434840"/>
            <a:ext cx="1371600" cy="960120"/>
          </a:xfrm>
          <a:prstGeom prst="roundRect">
            <a:avLst>
              <a:gd name="adj" fmla="val 7619"/>
            </a:avLst>
          </a:prstGeom>
          <a:solidFill>
            <a:srgbClr val="FFFFFF"/>
          </a:solidFill>
          <a:ln w="12700">
            <a:solidFill>
              <a:srgbClr val="E2E8F0"/>
            </a:solidFill>
            <a:prstDash val="solid"/>
          </a:ln>
          <a:effectLst>
            <a:outerShdw blurRad="12700" dist="12700" dir="2700000" algn="bl" rotWithShape="0">
              <a:srgbClr val="000000">
                <a:alpha val="8000"/>
              </a:srgbClr>
            </a:outerShdw>
          </a:effectLst>
        </p:spPr>
        <p:txBody>
          <a:bodyPr/>
          <a:lstStyle/>
          <a:p>
            <a:endParaRPr lang="en-ZA"/>
          </a:p>
        </p:txBody>
      </p:sp>
      <p:sp>
        <p:nvSpPr>
          <p:cNvPr id="33" name="Text 30"/>
          <p:cNvSpPr/>
          <p:nvPr/>
        </p:nvSpPr>
        <p:spPr>
          <a:xfrm>
            <a:off x="3072384" y="4562856"/>
            <a:ext cx="1115568" cy="310896"/>
          </a:xfrm>
          <a:prstGeom prst="rect">
            <a:avLst/>
          </a:prstGeom>
          <a:noFill/>
          <a:ln/>
        </p:spPr>
        <p:txBody>
          <a:bodyPr wrap="square" lIns="0" tIns="0" rIns="0" bIns="0" rtlCol="0" anchor="ctr"/>
          <a:lstStyle/>
          <a:p>
            <a:pPr marL="0" indent="0">
              <a:buNone/>
            </a:pPr>
            <a:r>
              <a:rPr lang="en-US" sz="2300" b="1" dirty="0">
                <a:solidFill>
                  <a:srgbClr val="2563EB"/>
                </a:solidFill>
              </a:rPr>
              <a:t>0.288</a:t>
            </a:r>
            <a:endParaRPr lang="en-US" sz="2300" dirty="0"/>
          </a:p>
        </p:txBody>
      </p:sp>
      <p:sp>
        <p:nvSpPr>
          <p:cNvPr id="34" name="Text 31"/>
          <p:cNvSpPr/>
          <p:nvPr/>
        </p:nvSpPr>
        <p:spPr>
          <a:xfrm>
            <a:off x="3072384" y="4965192"/>
            <a:ext cx="1115568" cy="256032"/>
          </a:xfrm>
          <a:prstGeom prst="rect">
            <a:avLst/>
          </a:prstGeom>
          <a:noFill/>
          <a:ln/>
        </p:spPr>
        <p:txBody>
          <a:bodyPr wrap="square" lIns="0" tIns="0" rIns="0" bIns="0" rtlCol="0" anchor="ctr"/>
          <a:lstStyle/>
          <a:p>
            <a:pPr marL="0" indent="0">
              <a:buNone/>
            </a:pPr>
            <a:r>
              <a:rPr lang="en-US" sz="1150" dirty="0">
                <a:solidFill>
                  <a:srgbClr val="334155"/>
                </a:solidFill>
              </a:rPr>
              <a:t>Model R²</a:t>
            </a:r>
            <a:endParaRPr lang="en-US" sz="1150" dirty="0"/>
          </a:p>
        </p:txBody>
      </p:sp>
      <p:sp>
        <p:nvSpPr>
          <p:cNvPr id="35" name="Text 32"/>
          <p:cNvSpPr/>
          <p:nvPr/>
        </p:nvSpPr>
        <p:spPr>
          <a:xfrm>
            <a:off x="4526280" y="4507992"/>
            <a:ext cx="6629400" cy="548640"/>
          </a:xfrm>
          <a:prstGeom prst="rect">
            <a:avLst/>
          </a:prstGeom>
          <a:noFill/>
          <a:ln/>
        </p:spPr>
        <p:txBody>
          <a:bodyPr wrap="square" lIns="0" tIns="0" rIns="0" bIns="0" rtlCol="0" anchor="ctr">
            <a:normAutofit fontScale="92500"/>
          </a:bodyPr>
          <a:lstStyle/>
          <a:p>
            <a:pPr marL="0" indent="0">
              <a:buNone/>
            </a:pPr>
            <a:r>
              <a:rPr lang="en-US" sz="1600" dirty="0">
                <a:solidFill>
                  <a:srgbClr val="334155"/>
                </a:solidFill>
              </a:rPr>
              <a:t>Other attention variables were not significant in the combined model; individual attention-to-volatility models had very low R² values (≈0.003–0.043).</a:t>
            </a:r>
            <a:endParaRPr lang="en-US" sz="1600" dirty="0"/>
          </a:p>
        </p:txBody>
      </p:sp>
      <p:sp>
        <p:nvSpPr>
          <p:cNvPr id="36" name="Shape 33"/>
          <p:cNvSpPr/>
          <p:nvPr/>
        </p:nvSpPr>
        <p:spPr>
          <a:xfrm>
            <a:off x="658368" y="5486400"/>
            <a:ext cx="10789920" cy="685800"/>
          </a:xfrm>
          <a:prstGeom prst="roundRect">
            <a:avLst>
              <a:gd name="adj" fmla="val 16000"/>
            </a:avLst>
          </a:prstGeom>
          <a:solidFill>
            <a:srgbClr val="1E293B"/>
          </a:solidFill>
          <a:ln w="12700">
            <a:solidFill>
              <a:srgbClr val="1E293B">
                <a:alpha val="0"/>
              </a:srgbClr>
            </a:solidFill>
            <a:prstDash val="solid"/>
          </a:ln>
          <a:effectLst>
            <a:outerShdw blurRad="19050" dist="12700" dir="2700000" algn="bl" rotWithShape="0">
              <a:srgbClr val="000000">
                <a:alpha val="15000"/>
              </a:srgbClr>
            </a:outerShdw>
          </a:effectLst>
        </p:spPr>
        <p:txBody>
          <a:bodyPr/>
          <a:lstStyle/>
          <a:p>
            <a:endParaRPr lang="en-ZA"/>
          </a:p>
        </p:txBody>
      </p:sp>
      <p:sp>
        <p:nvSpPr>
          <p:cNvPr id="37" name="Text 34"/>
          <p:cNvSpPr/>
          <p:nvPr/>
        </p:nvSpPr>
        <p:spPr>
          <a:xfrm>
            <a:off x="859536" y="5650992"/>
            <a:ext cx="10387584" cy="356616"/>
          </a:xfrm>
          <a:prstGeom prst="rect">
            <a:avLst/>
          </a:prstGeom>
          <a:noFill/>
          <a:ln/>
        </p:spPr>
        <p:txBody>
          <a:bodyPr wrap="square" lIns="508" tIns="508" rIns="508" bIns="508" rtlCol="0" anchor="ctr">
            <a:normAutofit fontScale="85000" lnSpcReduction="10000"/>
          </a:bodyPr>
          <a:lstStyle/>
          <a:p>
            <a:r>
              <a:rPr lang="en-US" sz="2000" b="1" dirty="0">
                <a:solidFill>
                  <a:srgbClr val="FFFFFF"/>
                </a:solidFill>
              </a:rPr>
              <a:t>Attention has limited explanatory power for volatility and does not significantly improve prediction.</a:t>
            </a:r>
            <a:endParaRPr lang="en-US" sz="2000" dirty="0"/>
          </a:p>
        </p:txBody>
      </p:sp>
      <p:sp>
        <p:nvSpPr>
          <p:cNvPr id="38" name="Shape 35"/>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39" name="Text 36"/>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40" name="Text 37"/>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10/12</a:t>
            </a:r>
            <a:endParaRPr lang="en-US" sz="750" dirty="0"/>
          </a:p>
        </p:txBody>
      </p:sp>
      <p:sp>
        <p:nvSpPr>
          <p:cNvPr id="41" name="TextBox 40">
            <a:extLst>
              <a:ext uri="{FF2B5EF4-FFF2-40B4-BE49-F238E27FC236}">
                <a16:creationId xmlns:a16="http://schemas.microsoft.com/office/drawing/2014/main" id="{264575D2-CE22-0E69-08B1-BA0B916E8D40}"/>
              </a:ext>
            </a:extLst>
          </p:cNvPr>
          <p:cNvSpPr txBox="1"/>
          <p:nvPr/>
        </p:nvSpPr>
        <p:spPr>
          <a:xfrm>
            <a:off x="6300216" y="3550024"/>
            <a:ext cx="4145459" cy="646331"/>
          </a:xfrm>
          <a:prstGeom prst="rect">
            <a:avLst/>
          </a:prstGeom>
          <a:noFill/>
        </p:spPr>
        <p:txBody>
          <a:bodyPr wrap="square" rtlCol="0">
            <a:spAutoFit/>
          </a:bodyPr>
          <a:lstStyle/>
          <a:p>
            <a:r>
              <a:rPr lang="en-ZA" b="1" dirty="0">
                <a:solidFill>
                  <a:schemeClr val="accent1">
                    <a:lumMod val="50000"/>
                  </a:schemeClr>
                </a:solidFill>
                <a:latin typeface="Aptos" panose="020B0004020202020204" pitchFamily="34" charset="0"/>
              </a:rPr>
              <a:t>Volatility is weakly structured and largely stochastic in this sample</a:t>
            </a:r>
            <a:r>
              <a:rPr lang="en-ZA" dirty="0"/>
              <a: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37744"/>
            <a:ext cx="8961120" cy="411480"/>
          </a:xfrm>
          <a:prstGeom prst="rect">
            <a:avLst/>
          </a:prstGeom>
          <a:noFill/>
          <a:ln/>
        </p:spPr>
        <p:txBody>
          <a:bodyPr wrap="square" lIns="0" tIns="0" rIns="0" bIns="0" rtlCol="0" anchor="ctr"/>
          <a:lstStyle/>
          <a:p>
            <a:r>
              <a:rPr lang="en-ZA" sz="2800" b="1" dirty="0"/>
              <a:t>Hypothesis testing summary </a:t>
            </a:r>
            <a:r>
              <a:rPr lang="en-US" sz="2700" b="1" dirty="0">
                <a:solidFill>
                  <a:srgbClr val="0F172A"/>
                </a:solidFill>
                <a:latin typeface="Aptos Display" pitchFamily="34" charset="0"/>
                <a:ea typeface="Aptos Display" pitchFamily="34" charset="-122"/>
                <a:cs typeface="Aptos Display" pitchFamily="34" charset="-120"/>
              </a:rPr>
              <a:t>and recommendations</a:t>
            </a:r>
            <a:endParaRPr lang="en-US" sz="2700" dirty="0"/>
          </a:p>
        </p:txBody>
      </p:sp>
      <p:sp>
        <p:nvSpPr>
          <p:cNvPr id="3" name="Text 1"/>
          <p:cNvSpPr/>
          <p:nvPr/>
        </p:nvSpPr>
        <p:spPr>
          <a:xfrm>
            <a:off x="9646920" y="283464"/>
            <a:ext cx="1965960" cy="292608"/>
          </a:xfrm>
          <a:prstGeom prst="rect">
            <a:avLst/>
          </a:prstGeom>
          <a:solidFill>
            <a:srgbClr val="2563EB"/>
          </a:solidFill>
          <a:ln>
            <a:solidFill>
              <a:srgbClr val="2563EB">
                <a:alpha val="0"/>
              </a:srgbClr>
            </a:solidFill>
          </a:ln>
        </p:spPr>
        <p:txBody>
          <a:bodyPr wrap="square" lIns="635" tIns="635" rIns="635" bIns="635" rtlCol="0" anchor="ctr"/>
          <a:lstStyle/>
          <a:p>
            <a:pPr marL="0" indent="0" algn="ctr">
              <a:buNone/>
            </a:pPr>
            <a:r>
              <a:rPr lang="en-US" sz="1050" b="1" dirty="0">
                <a:solidFill>
                  <a:srgbClr val="FFFFFF"/>
                </a:solidFill>
              </a:rPr>
              <a:t>Synthesis</a:t>
            </a:r>
            <a:endParaRPr lang="en-US" sz="1050" dirty="0"/>
          </a:p>
        </p:txBody>
      </p:sp>
      <p:sp>
        <p:nvSpPr>
          <p:cNvPr id="4" name="Shape 2"/>
          <p:cNvSpPr/>
          <p:nvPr/>
        </p:nvSpPr>
        <p:spPr>
          <a:xfrm>
            <a:off x="502920" y="786384"/>
            <a:ext cx="11155680" cy="0"/>
          </a:xfrm>
          <a:prstGeom prst="line">
            <a:avLst/>
          </a:prstGeom>
          <a:noFill/>
          <a:ln w="15240">
            <a:solidFill>
              <a:srgbClr val="E2E8F0"/>
            </a:solidFill>
            <a:prstDash val="solid"/>
          </a:ln>
        </p:spPr>
        <p:txBody>
          <a:bodyPr/>
          <a:lstStyle/>
          <a:p>
            <a:endParaRPr lang="en-ZA"/>
          </a:p>
        </p:txBody>
      </p:sp>
      <p:sp>
        <p:nvSpPr>
          <p:cNvPr id="5" name="Text 3"/>
          <p:cNvSpPr/>
          <p:nvPr/>
        </p:nvSpPr>
        <p:spPr>
          <a:xfrm>
            <a:off x="722376" y="1124712"/>
            <a:ext cx="1161288" cy="582168"/>
          </a:xfrm>
          <a:prstGeom prst="rect">
            <a:avLst/>
          </a:prstGeom>
          <a:noFill/>
          <a:ln/>
        </p:spPr>
        <p:txBody>
          <a:bodyPr wrap="square" lIns="0" tIns="0" rIns="0" bIns="0" rtlCol="0" anchor="ctr">
            <a:normAutofit/>
          </a:bodyPr>
          <a:lstStyle/>
          <a:p>
            <a:pPr marL="0" indent="0">
              <a:buNone/>
            </a:pPr>
            <a:r>
              <a:rPr lang="en-US" sz="1310" b="1" dirty="0">
                <a:solidFill>
                  <a:srgbClr val="2563EB"/>
                </a:solidFill>
                <a:latin typeface="Aptos" pitchFamily="34" charset="0"/>
                <a:ea typeface="Aptos" pitchFamily="34" charset="-122"/>
                <a:cs typeface="Aptos" pitchFamily="34" charset="-120"/>
              </a:rPr>
              <a:t>Area</a:t>
            </a:r>
            <a:endParaRPr lang="en-US" sz="1310" dirty="0"/>
          </a:p>
        </p:txBody>
      </p:sp>
      <p:sp>
        <p:nvSpPr>
          <p:cNvPr id="6" name="Text 4"/>
          <p:cNvSpPr/>
          <p:nvPr/>
        </p:nvSpPr>
        <p:spPr>
          <a:xfrm>
            <a:off x="2820924" y="1112521"/>
            <a:ext cx="2350008" cy="582168"/>
          </a:xfrm>
          <a:prstGeom prst="rect">
            <a:avLst/>
          </a:prstGeom>
          <a:noFill/>
          <a:ln/>
        </p:spPr>
        <p:txBody>
          <a:bodyPr wrap="square" lIns="0" tIns="0" rIns="0" bIns="0" rtlCol="0" anchor="ctr">
            <a:normAutofit/>
          </a:bodyPr>
          <a:lstStyle/>
          <a:p>
            <a:pPr marL="0" indent="0">
              <a:buNone/>
            </a:pPr>
            <a:r>
              <a:rPr lang="en-US" sz="1310" b="1" dirty="0">
                <a:solidFill>
                  <a:srgbClr val="2563EB"/>
                </a:solidFill>
                <a:latin typeface="Aptos" pitchFamily="34" charset="0"/>
                <a:ea typeface="Aptos" pitchFamily="34" charset="-122"/>
                <a:cs typeface="Aptos" pitchFamily="34" charset="-120"/>
              </a:rPr>
              <a:t>Finding</a:t>
            </a:r>
            <a:endParaRPr lang="en-US" sz="1310" dirty="0"/>
          </a:p>
        </p:txBody>
      </p:sp>
      <p:sp>
        <p:nvSpPr>
          <p:cNvPr id="7" name="Text 5"/>
          <p:cNvSpPr/>
          <p:nvPr/>
        </p:nvSpPr>
        <p:spPr>
          <a:xfrm>
            <a:off x="4379976" y="1124712"/>
            <a:ext cx="2944368" cy="582168"/>
          </a:xfrm>
          <a:prstGeom prst="rect">
            <a:avLst/>
          </a:prstGeom>
          <a:noFill/>
          <a:ln/>
        </p:spPr>
        <p:txBody>
          <a:bodyPr wrap="square" lIns="0" tIns="0" rIns="0" bIns="0" rtlCol="0" anchor="ctr">
            <a:normAutofit/>
          </a:bodyPr>
          <a:lstStyle/>
          <a:p>
            <a:pPr marL="0" indent="0">
              <a:buNone/>
            </a:pPr>
            <a:r>
              <a:rPr lang="en-US" sz="1310" b="1" dirty="0">
                <a:solidFill>
                  <a:srgbClr val="2563EB"/>
                </a:solidFill>
                <a:latin typeface="Aptos" pitchFamily="34" charset="0"/>
                <a:ea typeface="Aptos" pitchFamily="34" charset="-122"/>
                <a:cs typeface="Aptos" pitchFamily="34" charset="-120"/>
              </a:rPr>
              <a:t>Interpretation</a:t>
            </a:r>
            <a:endParaRPr lang="en-US" sz="1310" dirty="0"/>
          </a:p>
        </p:txBody>
      </p:sp>
      <p:sp>
        <p:nvSpPr>
          <p:cNvPr id="8" name="Shape 6"/>
          <p:cNvSpPr/>
          <p:nvPr/>
        </p:nvSpPr>
        <p:spPr>
          <a:xfrm>
            <a:off x="685800" y="1716024"/>
            <a:ext cx="6675120" cy="0"/>
          </a:xfrm>
          <a:prstGeom prst="line">
            <a:avLst/>
          </a:prstGeom>
          <a:noFill/>
          <a:ln w="15240">
            <a:solidFill>
              <a:srgbClr val="2563EB"/>
            </a:solidFill>
            <a:prstDash val="solid"/>
          </a:ln>
        </p:spPr>
        <p:txBody>
          <a:bodyPr/>
          <a:lstStyle/>
          <a:p>
            <a:endParaRPr lang="en-ZA"/>
          </a:p>
        </p:txBody>
      </p:sp>
      <p:sp>
        <p:nvSpPr>
          <p:cNvPr id="9" name="Text 7"/>
          <p:cNvSpPr/>
          <p:nvPr/>
        </p:nvSpPr>
        <p:spPr>
          <a:xfrm>
            <a:off x="722376" y="1780032"/>
            <a:ext cx="1161288" cy="582168"/>
          </a:xfrm>
          <a:prstGeom prst="rect">
            <a:avLst/>
          </a:prstGeom>
          <a:noFill/>
          <a:ln/>
        </p:spPr>
        <p:txBody>
          <a:bodyPr wrap="square" lIns="0" tIns="0" rIns="0" bIns="0" rtlCol="0" anchor="ctr">
            <a:normAutofit/>
          </a:bodyPr>
          <a:lstStyle/>
          <a:p>
            <a:r>
              <a:rPr lang="en-ZA" sz="1400" dirty="0"/>
              <a:t>H₀₁ </a:t>
            </a:r>
          </a:p>
          <a:p>
            <a:r>
              <a:rPr lang="en-ZA" sz="1400" dirty="0"/>
              <a:t>(Lead–lag)</a:t>
            </a:r>
            <a:endParaRPr lang="en-US" sz="1310" dirty="0"/>
          </a:p>
        </p:txBody>
      </p:sp>
      <p:sp>
        <p:nvSpPr>
          <p:cNvPr id="10" name="Text 8"/>
          <p:cNvSpPr/>
          <p:nvPr/>
        </p:nvSpPr>
        <p:spPr>
          <a:xfrm>
            <a:off x="2438400" y="1780032"/>
            <a:ext cx="1868424" cy="582168"/>
          </a:xfrm>
          <a:prstGeom prst="rect">
            <a:avLst/>
          </a:prstGeom>
          <a:noFill/>
          <a:ln/>
        </p:spPr>
        <p:txBody>
          <a:bodyPr wrap="square" lIns="0" tIns="0" rIns="0" bIns="0" rtlCol="0" anchor="ctr">
            <a:normAutofit/>
          </a:bodyPr>
          <a:lstStyle/>
          <a:p>
            <a:r>
              <a:rPr lang="en-ZA" sz="1400" dirty="0"/>
              <a:t>Partially rejected</a:t>
            </a:r>
            <a:endParaRPr lang="en-US" sz="1310" dirty="0"/>
          </a:p>
        </p:txBody>
      </p:sp>
      <p:sp>
        <p:nvSpPr>
          <p:cNvPr id="11" name="Text 9"/>
          <p:cNvSpPr/>
          <p:nvPr/>
        </p:nvSpPr>
        <p:spPr>
          <a:xfrm>
            <a:off x="4379976" y="1780032"/>
            <a:ext cx="2944368" cy="582168"/>
          </a:xfrm>
          <a:prstGeom prst="rect">
            <a:avLst/>
          </a:prstGeom>
          <a:noFill/>
          <a:ln/>
        </p:spPr>
        <p:txBody>
          <a:bodyPr wrap="square" lIns="0" tIns="0" rIns="0" bIns="0" rtlCol="0" anchor="ctr">
            <a:normAutofit/>
          </a:bodyPr>
          <a:lstStyle/>
          <a:p>
            <a:r>
              <a:rPr lang="en-ZA" sz="1400" dirty="0"/>
              <a:t>Strong evidence that attention leads volume (~2 weeks), weaker for returns</a:t>
            </a:r>
            <a:endParaRPr lang="en-US" sz="1310" dirty="0"/>
          </a:p>
        </p:txBody>
      </p:sp>
      <p:sp>
        <p:nvSpPr>
          <p:cNvPr id="12" name="Shape 10"/>
          <p:cNvSpPr/>
          <p:nvPr/>
        </p:nvSpPr>
        <p:spPr>
          <a:xfrm>
            <a:off x="685800" y="2371344"/>
            <a:ext cx="6675120" cy="0"/>
          </a:xfrm>
          <a:prstGeom prst="line">
            <a:avLst/>
          </a:prstGeom>
          <a:noFill/>
          <a:ln w="7620">
            <a:solidFill>
              <a:srgbClr val="E2E8F0"/>
            </a:solidFill>
            <a:prstDash val="solid"/>
          </a:ln>
        </p:spPr>
        <p:txBody>
          <a:bodyPr/>
          <a:lstStyle/>
          <a:p>
            <a:endParaRPr lang="en-ZA"/>
          </a:p>
        </p:txBody>
      </p:sp>
      <p:sp>
        <p:nvSpPr>
          <p:cNvPr id="13" name="Text 11"/>
          <p:cNvSpPr/>
          <p:nvPr/>
        </p:nvSpPr>
        <p:spPr>
          <a:xfrm>
            <a:off x="722375" y="2435352"/>
            <a:ext cx="1711431" cy="582168"/>
          </a:xfrm>
          <a:prstGeom prst="rect">
            <a:avLst/>
          </a:prstGeom>
          <a:noFill/>
          <a:ln/>
        </p:spPr>
        <p:txBody>
          <a:bodyPr wrap="square" lIns="0" tIns="0" rIns="0" bIns="0" rtlCol="0" anchor="ctr">
            <a:normAutofit lnSpcReduction="10000"/>
          </a:bodyPr>
          <a:lstStyle/>
          <a:p>
            <a:br>
              <a:rPr lang="en-ZA" sz="1400" dirty="0"/>
            </a:br>
            <a:r>
              <a:rPr lang="en-ZA" sz="1400" dirty="0"/>
              <a:t>H₀₂ </a:t>
            </a:r>
          </a:p>
          <a:p>
            <a:r>
              <a:rPr lang="en-ZA" sz="1400" dirty="0"/>
              <a:t>(Granger causality)</a:t>
            </a:r>
            <a:endParaRPr lang="en-US" sz="1310" dirty="0"/>
          </a:p>
        </p:txBody>
      </p:sp>
      <p:sp>
        <p:nvSpPr>
          <p:cNvPr id="14" name="Text 12"/>
          <p:cNvSpPr/>
          <p:nvPr/>
        </p:nvSpPr>
        <p:spPr>
          <a:xfrm>
            <a:off x="2433807" y="2435352"/>
            <a:ext cx="2350008" cy="582168"/>
          </a:xfrm>
          <a:prstGeom prst="rect">
            <a:avLst/>
          </a:prstGeom>
          <a:noFill/>
          <a:ln/>
        </p:spPr>
        <p:txBody>
          <a:bodyPr wrap="square" lIns="0" tIns="0" rIns="0" bIns="0" rtlCol="0" anchor="ctr">
            <a:normAutofit/>
          </a:bodyPr>
          <a:lstStyle/>
          <a:p>
            <a:r>
              <a:rPr lang="en-ZA" sz="1400" dirty="0"/>
              <a:t>Partially rejected</a:t>
            </a:r>
            <a:endParaRPr lang="en-US" sz="1310" dirty="0"/>
          </a:p>
        </p:txBody>
      </p:sp>
      <p:sp>
        <p:nvSpPr>
          <p:cNvPr id="15" name="Text 13"/>
          <p:cNvSpPr/>
          <p:nvPr/>
        </p:nvSpPr>
        <p:spPr>
          <a:xfrm>
            <a:off x="4379976" y="2435352"/>
            <a:ext cx="2944368" cy="582168"/>
          </a:xfrm>
          <a:prstGeom prst="rect">
            <a:avLst/>
          </a:prstGeom>
          <a:noFill/>
          <a:ln/>
        </p:spPr>
        <p:txBody>
          <a:bodyPr wrap="square" lIns="0" tIns="0" rIns="0" bIns="0" rtlCol="0" anchor="ctr">
            <a:normAutofit lnSpcReduction="10000"/>
          </a:bodyPr>
          <a:lstStyle/>
          <a:p>
            <a:r>
              <a:rPr lang="en-ZA" sz="1400" dirty="0"/>
              <a:t>Attention significantly predicts volume; weak short-term signal for returns</a:t>
            </a:r>
            <a:endParaRPr lang="en-US" sz="1310" dirty="0"/>
          </a:p>
        </p:txBody>
      </p:sp>
      <p:sp>
        <p:nvSpPr>
          <p:cNvPr id="16" name="Shape 14"/>
          <p:cNvSpPr/>
          <p:nvPr/>
        </p:nvSpPr>
        <p:spPr>
          <a:xfrm>
            <a:off x="685800" y="3026664"/>
            <a:ext cx="6675120" cy="0"/>
          </a:xfrm>
          <a:prstGeom prst="line">
            <a:avLst/>
          </a:prstGeom>
          <a:noFill/>
          <a:ln w="7620">
            <a:solidFill>
              <a:srgbClr val="E2E8F0"/>
            </a:solidFill>
            <a:prstDash val="solid"/>
          </a:ln>
        </p:spPr>
        <p:txBody>
          <a:bodyPr/>
          <a:lstStyle/>
          <a:p>
            <a:endParaRPr lang="en-ZA"/>
          </a:p>
        </p:txBody>
      </p:sp>
      <p:sp>
        <p:nvSpPr>
          <p:cNvPr id="17" name="Text 15"/>
          <p:cNvSpPr/>
          <p:nvPr/>
        </p:nvSpPr>
        <p:spPr>
          <a:xfrm>
            <a:off x="722375" y="3090672"/>
            <a:ext cx="1585395" cy="582168"/>
          </a:xfrm>
          <a:prstGeom prst="rect">
            <a:avLst/>
          </a:prstGeom>
          <a:noFill/>
          <a:ln/>
        </p:spPr>
        <p:txBody>
          <a:bodyPr wrap="square" lIns="0" tIns="0" rIns="0" bIns="0" rtlCol="0" anchor="ctr">
            <a:normAutofit lnSpcReduction="10000"/>
          </a:bodyPr>
          <a:lstStyle/>
          <a:p>
            <a:r>
              <a:rPr lang="en-ZA" sz="1400" dirty="0"/>
              <a:t>H₀₃ </a:t>
            </a:r>
          </a:p>
          <a:p>
            <a:r>
              <a:rPr lang="en-ZA" sz="1400" dirty="0"/>
              <a:t>(Machine learning predictive power)</a:t>
            </a:r>
            <a:endParaRPr lang="en-US" sz="1310" dirty="0"/>
          </a:p>
        </p:txBody>
      </p:sp>
      <p:sp>
        <p:nvSpPr>
          <p:cNvPr id="18" name="Text 16"/>
          <p:cNvSpPr/>
          <p:nvPr/>
        </p:nvSpPr>
        <p:spPr>
          <a:xfrm>
            <a:off x="2433807" y="3075287"/>
            <a:ext cx="2350008" cy="582168"/>
          </a:xfrm>
          <a:prstGeom prst="rect">
            <a:avLst/>
          </a:prstGeom>
          <a:noFill/>
          <a:ln/>
        </p:spPr>
        <p:txBody>
          <a:bodyPr wrap="square" lIns="0" tIns="0" rIns="0" bIns="0" rtlCol="0" anchor="ctr">
            <a:normAutofit/>
          </a:bodyPr>
          <a:lstStyle/>
          <a:p>
            <a:pPr marL="0" indent="0">
              <a:buNone/>
            </a:pPr>
            <a:r>
              <a:rPr lang="en-US" sz="1310" dirty="0">
                <a:solidFill>
                  <a:srgbClr val="0F172A"/>
                </a:solidFill>
                <a:latin typeface="Aptos" pitchFamily="34" charset="0"/>
                <a:ea typeface="Aptos" pitchFamily="34" charset="-122"/>
                <a:cs typeface="Aptos" pitchFamily="34" charset="-120"/>
              </a:rPr>
              <a:t>Fail, to reject</a:t>
            </a:r>
            <a:endParaRPr lang="en-US" sz="1310" dirty="0"/>
          </a:p>
        </p:txBody>
      </p:sp>
      <p:sp>
        <p:nvSpPr>
          <p:cNvPr id="19" name="Text 17"/>
          <p:cNvSpPr/>
          <p:nvPr/>
        </p:nvSpPr>
        <p:spPr>
          <a:xfrm>
            <a:off x="4379976" y="3090672"/>
            <a:ext cx="2944368" cy="582168"/>
          </a:xfrm>
          <a:prstGeom prst="rect">
            <a:avLst/>
          </a:prstGeom>
          <a:noFill/>
          <a:ln/>
        </p:spPr>
        <p:txBody>
          <a:bodyPr wrap="square" lIns="0" tIns="0" rIns="0" bIns="0" rtlCol="0" anchor="ctr">
            <a:normAutofit/>
          </a:bodyPr>
          <a:lstStyle/>
          <a:p>
            <a:r>
              <a:rPr lang="en-ZA" sz="1400" dirty="0"/>
              <a:t>Random Forest fails out-of-sample (Test R² = -0.85)</a:t>
            </a:r>
            <a:endParaRPr lang="en-US" sz="1310" dirty="0"/>
          </a:p>
        </p:txBody>
      </p:sp>
      <p:sp>
        <p:nvSpPr>
          <p:cNvPr id="20" name="Shape 18"/>
          <p:cNvSpPr/>
          <p:nvPr/>
        </p:nvSpPr>
        <p:spPr>
          <a:xfrm>
            <a:off x="685800" y="3681984"/>
            <a:ext cx="6675120" cy="0"/>
          </a:xfrm>
          <a:prstGeom prst="line">
            <a:avLst/>
          </a:prstGeom>
          <a:noFill/>
          <a:ln w="7620">
            <a:solidFill>
              <a:srgbClr val="E2E8F0"/>
            </a:solidFill>
            <a:prstDash val="solid"/>
          </a:ln>
        </p:spPr>
        <p:txBody>
          <a:bodyPr/>
          <a:lstStyle/>
          <a:p>
            <a:endParaRPr lang="en-ZA"/>
          </a:p>
        </p:txBody>
      </p:sp>
      <p:sp>
        <p:nvSpPr>
          <p:cNvPr id="21" name="Text 19"/>
          <p:cNvSpPr/>
          <p:nvPr/>
        </p:nvSpPr>
        <p:spPr>
          <a:xfrm>
            <a:off x="722375" y="3745992"/>
            <a:ext cx="1585395" cy="582168"/>
          </a:xfrm>
          <a:prstGeom prst="rect">
            <a:avLst/>
          </a:prstGeom>
          <a:noFill/>
          <a:ln/>
        </p:spPr>
        <p:txBody>
          <a:bodyPr wrap="square" lIns="0" tIns="0" rIns="0" bIns="0" rtlCol="0" anchor="ctr">
            <a:normAutofit lnSpcReduction="10000"/>
          </a:bodyPr>
          <a:lstStyle/>
          <a:p>
            <a:r>
              <a:rPr lang="en-ZA" sz="1400" dirty="0"/>
              <a:t>H₀₄ </a:t>
            </a:r>
          </a:p>
          <a:p>
            <a:r>
              <a:rPr lang="en-ZA" sz="1400" dirty="0"/>
              <a:t>(Volatility explanation)</a:t>
            </a:r>
            <a:endParaRPr lang="en-US" sz="1310" dirty="0"/>
          </a:p>
        </p:txBody>
      </p:sp>
      <p:sp>
        <p:nvSpPr>
          <p:cNvPr id="22" name="Text 20"/>
          <p:cNvSpPr/>
          <p:nvPr/>
        </p:nvSpPr>
        <p:spPr>
          <a:xfrm>
            <a:off x="2433807" y="3718560"/>
            <a:ext cx="2350008" cy="582168"/>
          </a:xfrm>
          <a:prstGeom prst="rect">
            <a:avLst/>
          </a:prstGeom>
          <a:noFill/>
          <a:ln/>
        </p:spPr>
        <p:txBody>
          <a:bodyPr wrap="square" lIns="0" tIns="0" rIns="0" bIns="0" rtlCol="0" anchor="ctr">
            <a:normAutofit/>
          </a:bodyPr>
          <a:lstStyle/>
          <a:p>
            <a:r>
              <a:rPr lang="en-ZA" sz="1400" dirty="0"/>
              <a:t>Fail, to reject</a:t>
            </a:r>
            <a:endParaRPr lang="en-US" sz="1310" dirty="0"/>
          </a:p>
        </p:txBody>
      </p:sp>
      <p:sp>
        <p:nvSpPr>
          <p:cNvPr id="23" name="Text 21"/>
          <p:cNvSpPr/>
          <p:nvPr/>
        </p:nvSpPr>
        <p:spPr>
          <a:xfrm>
            <a:off x="4379976" y="3745992"/>
            <a:ext cx="2944368" cy="582168"/>
          </a:xfrm>
          <a:prstGeom prst="rect">
            <a:avLst/>
          </a:prstGeom>
          <a:noFill/>
          <a:ln/>
        </p:spPr>
        <p:txBody>
          <a:bodyPr wrap="square" lIns="0" tIns="0" rIns="0" bIns="0" rtlCol="0" anchor="ctr">
            <a:normAutofit/>
          </a:bodyPr>
          <a:lstStyle/>
          <a:p>
            <a:r>
              <a:rPr lang="en-ZA" sz="1400" dirty="0"/>
              <a:t>GARCH shows weak volatility structure; attention adds limited value</a:t>
            </a:r>
            <a:endParaRPr lang="en-US" sz="1310" dirty="0"/>
          </a:p>
        </p:txBody>
      </p:sp>
      <p:sp>
        <p:nvSpPr>
          <p:cNvPr id="24" name="Shape 22"/>
          <p:cNvSpPr/>
          <p:nvPr/>
        </p:nvSpPr>
        <p:spPr>
          <a:xfrm>
            <a:off x="685800" y="4337304"/>
            <a:ext cx="6675120" cy="0"/>
          </a:xfrm>
          <a:prstGeom prst="line">
            <a:avLst/>
          </a:prstGeom>
          <a:noFill/>
          <a:ln w="7620">
            <a:solidFill>
              <a:srgbClr val="E2E8F0"/>
            </a:solidFill>
            <a:prstDash val="solid"/>
          </a:ln>
        </p:spPr>
        <p:txBody>
          <a:bodyPr/>
          <a:lstStyle/>
          <a:p>
            <a:endParaRPr lang="en-ZA"/>
          </a:p>
        </p:txBody>
      </p:sp>
      <p:sp>
        <p:nvSpPr>
          <p:cNvPr id="29" name="Text 27"/>
          <p:cNvSpPr/>
          <p:nvPr/>
        </p:nvSpPr>
        <p:spPr>
          <a:xfrm>
            <a:off x="7708392" y="1269492"/>
            <a:ext cx="3383280" cy="292608"/>
          </a:xfrm>
          <a:prstGeom prst="rect">
            <a:avLst/>
          </a:prstGeom>
          <a:noFill/>
          <a:ln/>
        </p:spPr>
        <p:txBody>
          <a:bodyPr wrap="square" lIns="0" tIns="0" rIns="0" bIns="0" rtlCol="0" anchor="ctr"/>
          <a:lstStyle/>
          <a:p>
            <a:pPr marL="0" indent="0">
              <a:buNone/>
            </a:pPr>
            <a:r>
              <a:rPr lang="en-US" sz="2200" b="1" dirty="0">
                <a:solidFill>
                  <a:srgbClr val="0F172A"/>
                </a:solidFill>
              </a:rPr>
              <a:t>Recommendations</a:t>
            </a:r>
            <a:endParaRPr lang="en-US" sz="2200" dirty="0"/>
          </a:p>
        </p:txBody>
      </p:sp>
      <p:sp>
        <p:nvSpPr>
          <p:cNvPr id="30" name="Text 28"/>
          <p:cNvSpPr/>
          <p:nvPr/>
        </p:nvSpPr>
        <p:spPr>
          <a:xfrm>
            <a:off x="7730266" y="1736344"/>
            <a:ext cx="3566160" cy="2468880"/>
          </a:xfrm>
          <a:prstGeom prst="rect">
            <a:avLst/>
          </a:prstGeom>
          <a:noFill/>
          <a:ln/>
        </p:spPr>
        <p:txBody>
          <a:bodyPr wrap="square" lIns="381" tIns="381" rIns="381" bIns="381" rtlCol="0" anchor="t">
            <a:normAutofit fontScale="92500" lnSpcReduction="20000"/>
          </a:bodyPr>
          <a:lstStyle/>
          <a:p>
            <a:r>
              <a:rPr lang="en-US" sz="1680" dirty="0">
                <a:solidFill>
                  <a:srgbClr val="0F172A"/>
                </a:solidFill>
              </a:rPr>
              <a:t>Use Google Trends as a supplementary market-attention indicator.
</a:t>
            </a:r>
            <a:endParaRPr lang="en-US" sz="1680" dirty="0"/>
          </a:p>
          <a:p>
            <a:r>
              <a:rPr lang="en-US" sz="1680" dirty="0">
                <a:solidFill>
                  <a:srgbClr val="0F172A"/>
                </a:solidFill>
              </a:rPr>
              <a:t>Give more weight to volume and activity signals than to return direction.
</a:t>
            </a:r>
            <a:endParaRPr lang="en-US" sz="1680" dirty="0"/>
          </a:p>
          <a:p>
            <a:r>
              <a:rPr lang="en-US" sz="1680" dirty="0">
                <a:solidFill>
                  <a:srgbClr val="0F172A"/>
                </a:solidFill>
              </a:rPr>
              <a:t>Combine search attention with news, macro, liquidity and sentiment measures.
</a:t>
            </a:r>
            <a:endParaRPr lang="en-US" sz="1680" dirty="0"/>
          </a:p>
          <a:p>
            <a:r>
              <a:rPr lang="en-US" sz="1680" dirty="0">
                <a:solidFill>
                  <a:srgbClr val="0F172A"/>
                </a:solidFill>
              </a:rPr>
              <a:t>Extend the sample beyond one year to test robustness across Bitcoin cycles.</a:t>
            </a:r>
            <a:endParaRPr lang="en-US" sz="1680" dirty="0"/>
          </a:p>
        </p:txBody>
      </p:sp>
      <p:grpSp>
        <p:nvGrpSpPr>
          <p:cNvPr id="36" name="Group 35">
            <a:extLst>
              <a:ext uri="{FF2B5EF4-FFF2-40B4-BE49-F238E27FC236}">
                <a16:creationId xmlns:a16="http://schemas.microsoft.com/office/drawing/2014/main" id="{CC78A564-FB7A-5F30-4CEF-649E194911B4}"/>
              </a:ext>
            </a:extLst>
          </p:cNvPr>
          <p:cNvGrpSpPr/>
          <p:nvPr/>
        </p:nvGrpSpPr>
        <p:grpSpPr>
          <a:xfrm>
            <a:off x="7726680" y="4751831"/>
            <a:ext cx="3566160" cy="1236472"/>
            <a:chOff x="7680960" y="5100320"/>
            <a:chExt cx="3566160" cy="1236472"/>
          </a:xfrm>
        </p:grpSpPr>
        <p:sp>
          <p:nvSpPr>
            <p:cNvPr id="31" name="Shape 29"/>
            <p:cNvSpPr/>
            <p:nvPr/>
          </p:nvSpPr>
          <p:spPr>
            <a:xfrm>
              <a:off x="7680960" y="5100320"/>
              <a:ext cx="3566160" cy="1236472"/>
            </a:xfrm>
            <a:prstGeom prst="roundRect">
              <a:avLst>
                <a:gd name="adj" fmla="val 10169"/>
              </a:avLst>
            </a:prstGeom>
            <a:solidFill>
              <a:srgbClr val="111827"/>
            </a:solidFill>
            <a:ln w="12700">
              <a:solidFill>
                <a:srgbClr val="111827">
                  <a:alpha val="0"/>
                </a:srgbClr>
              </a:solidFill>
              <a:prstDash val="solid"/>
            </a:ln>
            <a:effectLst>
              <a:outerShdw blurRad="19050" dist="12700" dir="2700000" algn="bl" rotWithShape="0">
                <a:srgbClr val="000000">
                  <a:alpha val="15000"/>
                </a:srgbClr>
              </a:outerShdw>
            </a:effectLst>
          </p:spPr>
          <p:txBody>
            <a:bodyPr/>
            <a:lstStyle/>
            <a:p>
              <a:endParaRPr lang="en-ZA"/>
            </a:p>
          </p:txBody>
        </p:sp>
        <p:sp>
          <p:nvSpPr>
            <p:cNvPr id="32" name="Text 30"/>
            <p:cNvSpPr/>
            <p:nvPr/>
          </p:nvSpPr>
          <p:spPr>
            <a:xfrm>
              <a:off x="7882128" y="5257800"/>
              <a:ext cx="3163824" cy="914400"/>
            </a:xfrm>
            <a:prstGeom prst="rect">
              <a:avLst/>
            </a:prstGeom>
            <a:noFill/>
            <a:ln/>
          </p:spPr>
          <p:txBody>
            <a:bodyPr wrap="square" lIns="508" tIns="508" rIns="508" bIns="508" rtlCol="0" anchor="ctr">
              <a:normAutofit fontScale="85000" lnSpcReduction="10000"/>
            </a:bodyPr>
            <a:lstStyle/>
            <a:p>
              <a:pPr marL="0" indent="0">
                <a:buNone/>
              </a:pPr>
              <a:r>
                <a:rPr lang="en-US" sz="2000" b="1" dirty="0">
                  <a:solidFill>
                    <a:srgbClr val="FFFFFF"/>
                  </a:solidFill>
                </a:rPr>
                <a:t>internet attention predicts when people enter the market, not how the market moves.</a:t>
              </a:r>
              <a:endParaRPr lang="en-US" sz="2000" dirty="0"/>
            </a:p>
          </p:txBody>
        </p:sp>
      </p:grpSp>
      <p:sp>
        <p:nvSpPr>
          <p:cNvPr id="33" name="Shape 31"/>
          <p:cNvSpPr/>
          <p:nvPr/>
        </p:nvSpPr>
        <p:spPr>
          <a:xfrm>
            <a:off x="502920" y="6473952"/>
            <a:ext cx="11155680" cy="0"/>
          </a:xfrm>
          <a:prstGeom prst="line">
            <a:avLst/>
          </a:prstGeom>
          <a:noFill/>
          <a:ln w="12700">
            <a:solidFill>
              <a:srgbClr val="E5E7EB"/>
            </a:solidFill>
            <a:prstDash val="solid"/>
          </a:ln>
        </p:spPr>
        <p:txBody>
          <a:bodyPr/>
          <a:lstStyle/>
          <a:p>
            <a:endParaRPr lang="en-ZA"/>
          </a:p>
        </p:txBody>
      </p:sp>
      <p:sp>
        <p:nvSpPr>
          <p:cNvPr id="34" name="Text 32"/>
          <p:cNvSpPr/>
          <p:nvPr/>
        </p:nvSpPr>
        <p:spPr>
          <a:xfrm>
            <a:off x="502920" y="6565392"/>
            <a:ext cx="5486400" cy="146304"/>
          </a:xfrm>
          <a:prstGeom prst="rect">
            <a:avLst/>
          </a:prstGeom>
          <a:noFill/>
          <a:ln/>
        </p:spPr>
        <p:txBody>
          <a:bodyPr wrap="square" lIns="0" tIns="0" rIns="0" bIns="0" rtlCol="0" anchor="ctr"/>
          <a:lstStyle/>
          <a:p>
            <a:r>
              <a:rPr lang="en-US" sz="750" dirty="0">
                <a:solidFill>
                  <a:srgbClr val="94A3B8"/>
                </a:solidFill>
              </a:rPr>
              <a:t>EDAB 6808 : Assignment 1</a:t>
            </a:r>
            <a:endParaRPr lang="en-US" sz="750" dirty="0"/>
          </a:p>
        </p:txBody>
      </p:sp>
      <p:sp>
        <p:nvSpPr>
          <p:cNvPr id="35" name="Text 33"/>
          <p:cNvSpPr/>
          <p:nvPr/>
        </p:nvSpPr>
        <p:spPr>
          <a:xfrm>
            <a:off x="11064240" y="6565392"/>
            <a:ext cx="594360" cy="146304"/>
          </a:xfrm>
          <a:prstGeom prst="rect">
            <a:avLst/>
          </a:prstGeom>
          <a:noFill/>
          <a:ln/>
        </p:spPr>
        <p:txBody>
          <a:bodyPr wrap="square" lIns="0" tIns="0" rIns="0" bIns="0" rtlCol="0" anchor="ctr"/>
          <a:lstStyle/>
          <a:p>
            <a:pPr marL="0" indent="0" algn="r">
              <a:buNone/>
            </a:pPr>
            <a:r>
              <a:rPr lang="en-US" sz="750" dirty="0">
                <a:solidFill>
                  <a:srgbClr val="94A3B8"/>
                </a:solidFill>
              </a:rPr>
              <a:t>11/12</a:t>
            </a:r>
            <a:endParaRPr lang="en-US" sz="750" dirty="0"/>
          </a:p>
        </p:txBody>
      </p:sp>
      <p:sp>
        <p:nvSpPr>
          <p:cNvPr id="38" name="TextBox 37">
            <a:extLst>
              <a:ext uri="{FF2B5EF4-FFF2-40B4-BE49-F238E27FC236}">
                <a16:creationId xmlns:a16="http://schemas.microsoft.com/office/drawing/2014/main" id="{B2B7759F-3D49-E046-B6AF-0094DF9AF8E5}"/>
              </a:ext>
            </a:extLst>
          </p:cNvPr>
          <p:cNvSpPr txBox="1"/>
          <p:nvPr/>
        </p:nvSpPr>
        <p:spPr>
          <a:xfrm>
            <a:off x="722376" y="4630057"/>
            <a:ext cx="5373624" cy="923330"/>
          </a:xfrm>
          <a:prstGeom prst="rect">
            <a:avLst/>
          </a:prstGeom>
          <a:noFill/>
        </p:spPr>
        <p:txBody>
          <a:bodyPr wrap="square" rtlCol="0">
            <a:spAutoFit/>
          </a:bodyPr>
          <a:lstStyle/>
          <a:p>
            <a:r>
              <a:rPr lang="en-ZA" b="1" dirty="0">
                <a:solidFill>
                  <a:srgbClr val="FF0000"/>
                </a:solidFill>
              </a:rPr>
              <a:t>Attention predicts market participation (volume), </a:t>
            </a:r>
            <a:br>
              <a:rPr lang="en-ZA" b="1" dirty="0">
                <a:solidFill>
                  <a:srgbClr val="FF0000"/>
                </a:solidFill>
              </a:rPr>
            </a:br>
            <a:r>
              <a:rPr lang="en-ZA" b="1" dirty="0">
                <a:solidFill>
                  <a:srgbClr val="FF0000"/>
                </a:solidFill>
              </a:rPr>
              <a:t>but does not reliably predict price direction or volatility.</a:t>
            </a:r>
            <a:endParaRPr lang="en-US"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85800" y="658368"/>
            <a:ext cx="4572000" cy="475488"/>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Conclusion</a:t>
            </a:r>
            <a:endParaRPr lang="en-US" sz="3600" dirty="0"/>
          </a:p>
        </p:txBody>
      </p:sp>
      <p:sp>
        <p:nvSpPr>
          <p:cNvPr id="3" name="Shape 1"/>
          <p:cNvSpPr/>
          <p:nvPr/>
        </p:nvSpPr>
        <p:spPr>
          <a:xfrm>
            <a:off x="685800" y="1298448"/>
            <a:ext cx="10835640" cy="0"/>
          </a:xfrm>
          <a:prstGeom prst="line">
            <a:avLst/>
          </a:prstGeom>
          <a:noFill/>
          <a:ln w="25400">
            <a:solidFill>
              <a:srgbClr val="2563EB"/>
            </a:solidFill>
            <a:prstDash val="solid"/>
          </a:ln>
        </p:spPr>
        <p:txBody>
          <a:bodyPr/>
          <a:lstStyle/>
          <a:p>
            <a:endParaRPr lang="en-ZA"/>
          </a:p>
        </p:txBody>
      </p:sp>
      <p:sp>
        <p:nvSpPr>
          <p:cNvPr id="4" name="Text 2"/>
          <p:cNvSpPr/>
          <p:nvPr/>
        </p:nvSpPr>
        <p:spPr>
          <a:xfrm>
            <a:off x="713232" y="1691640"/>
            <a:ext cx="8961120" cy="475488"/>
          </a:xfrm>
          <a:prstGeom prst="rect">
            <a:avLst/>
          </a:prstGeom>
          <a:noFill/>
          <a:ln/>
        </p:spPr>
        <p:txBody>
          <a:bodyPr wrap="square" lIns="0" tIns="0" rIns="0" bIns="0" rtlCol="0" anchor="ctr"/>
          <a:lstStyle/>
          <a:p>
            <a:pPr marL="0" indent="0">
              <a:buNone/>
            </a:pPr>
            <a:r>
              <a:rPr lang="en-US" sz="2700" b="1" dirty="0">
                <a:solidFill>
                  <a:srgbClr val="FFFFFF"/>
                </a:solidFill>
              </a:rPr>
              <a:t>Partial support for the role of internet attention in Bitcoin markets.</a:t>
            </a:r>
            <a:endParaRPr lang="en-US" sz="2700" dirty="0"/>
          </a:p>
        </p:txBody>
      </p:sp>
      <p:sp>
        <p:nvSpPr>
          <p:cNvPr id="7" name="Text 4"/>
          <p:cNvSpPr/>
          <p:nvPr/>
        </p:nvSpPr>
        <p:spPr>
          <a:xfrm>
            <a:off x="8400109" y="5175838"/>
            <a:ext cx="1475411" cy="201168"/>
          </a:xfrm>
          <a:prstGeom prst="rect">
            <a:avLst/>
          </a:prstGeom>
          <a:noFill/>
          <a:ln/>
        </p:spPr>
        <p:txBody>
          <a:bodyPr wrap="square" lIns="0" tIns="0" rIns="0" bIns="0" rtlCol="0" anchor="ctr"/>
          <a:lstStyle/>
          <a:p>
            <a:pPr marL="0" indent="0" algn="ctr">
              <a:buNone/>
            </a:pPr>
            <a:r>
              <a:rPr lang="en-US" sz="950" dirty="0">
                <a:solidFill>
                  <a:srgbClr val="64748B"/>
                </a:solidFill>
              </a:rPr>
              <a:t>Search attention patterns</a:t>
            </a:r>
            <a:endParaRPr lang="en-US" sz="950" dirty="0"/>
          </a:p>
        </p:txBody>
      </p:sp>
      <p:sp>
        <p:nvSpPr>
          <p:cNvPr id="8" name="Text 5"/>
          <p:cNvSpPr/>
          <p:nvPr/>
        </p:nvSpPr>
        <p:spPr>
          <a:xfrm>
            <a:off x="731520" y="2606040"/>
            <a:ext cx="2560320" cy="292608"/>
          </a:xfrm>
          <a:prstGeom prst="rect">
            <a:avLst/>
          </a:prstGeom>
          <a:noFill/>
          <a:ln/>
        </p:spPr>
        <p:txBody>
          <a:bodyPr wrap="square" lIns="0" tIns="0" rIns="0" bIns="0" rtlCol="0" anchor="ctr"/>
          <a:lstStyle/>
          <a:p>
            <a:pPr marL="0" indent="0">
              <a:buNone/>
            </a:pPr>
            <a:r>
              <a:rPr lang="en-US" sz="1800" b="1" dirty="0">
                <a:solidFill>
                  <a:srgbClr val="F59E0B"/>
                </a:solidFill>
              </a:rPr>
              <a:t>Final judgement</a:t>
            </a:r>
            <a:endParaRPr lang="en-US" sz="1800" dirty="0"/>
          </a:p>
        </p:txBody>
      </p:sp>
      <p:sp>
        <p:nvSpPr>
          <p:cNvPr id="9" name="Text 6"/>
          <p:cNvSpPr/>
          <p:nvPr/>
        </p:nvSpPr>
        <p:spPr>
          <a:xfrm>
            <a:off x="731520" y="3017520"/>
            <a:ext cx="5669280" cy="2999232"/>
          </a:xfrm>
          <a:prstGeom prst="rect">
            <a:avLst/>
          </a:prstGeom>
          <a:noFill/>
          <a:ln/>
        </p:spPr>
        <p:txBody>
          <a:bodyPr wrap="square" lIns="381" tIns="381" rIns="381" bIns="381" rtlCol="0" anchor="t">
            <a:normAutofit lnSpcReduction="10000"/>
          </a:bodyPr>
          <a:lstStyle/>
          <a:p>
            <a:r>
              <a:rPr lang="en-US" sz="1800" dirty="0">
                <a:solidFill>
                  <a:srgbClr val="FFFFFF"/>
                </a:solidFill>
              </a:rPr>
              <a:t>Google Trends offers useful behavioural insight into Bitcoin market attention.
</a:t>
            </a:r>
            <a:endParaRPr lang="en-US" sz="1800" dirty="0"/>
          </a:p>
          <a:p>
            <a:r>
              <a:rPr lang="en-US" sz="1800" dirty="0">
                <a:solidFill>
                  <a:srgbClr val="FFFFFF"/>
                </a:solidFill>
              </a:rPr>
              <a:t>The strongest evidence supports attention leading trading volume.
</a:t>
            </a:r>
            <a:endParaRPr lang="en-US" sz="1800" dirty="0"/>
          </a:p>
          <a:p>
            <a:r>
              <a:rPr lang="en-US" sz="1800" dirty="0">
                <a:solidFill>
                  <a:srgbClr val="FFFFFF"/>
                </a:solidFill>
              </a:rPr>
              <a:t>Return prediction remains weak and unstable out of sample.
</a:t>
            </a:r>
            <a:endParaRPr lang="en-US" sz="1800" dirty="0"/>
          </a:p>
          <a:p>
            <a:r>
              <a:rPr lang="en-US" sz="1800" dirty="0">
                <a:solidFill>
                  <a:srgbClr val="FFFFFF"/>
                </a:solidFill>
              </a:rPr>
              <a:t>Volatility evidence is limited and should be interpreted cautiously.</a:t>
            </a:r>
            <a:endParaRPr lang="en-US" sz="1800" dirty="0"/>
          </a:p>
        </p:txBody>
      </p:sp>
      <p:sp>
        <p:nvSpPr>
          <p:cNvPr id="10" name="Shape 7"/>
          <p:cNvSpPr/>
          <p:nvPr/>
        </p:nvSpPr>
        <p:spPr>
          <a:xfrm>
            <a:off x="585216" y="5879592"/>
            <a:ext cx="10652760" cy="740664"/>
          </a:xfrm>
          <a:prstGeom prst="roundRect">
            <a:avLst>
              <a:gd name="adj" fmla="val 13333"/>
            </a:avLst>
          </a:prstGeom>
          <a:solidFill>
            <a:srgbClr val="1E293B"/>
          </a:solidFill>
          <a:ln w="12700">
            <a:solidFill>
              <a:srgbClr val="334155"/>
            </a:solidFill>
            <a:prstDash val="solid"/>
          </a:ln>
        </p:spPr>
        <p:txBody>
          <a:bodyPr/>
          <a:lstStyle/>
          <a:p>
            <a:endParaRPr lang="en-ZA"/>
          </a:p>
        </p:txBody>
      </p:sp>
      <p:sp>
        <p:nvSpPr>
          <p:cNvPr id="11" name="Text 8"/>
          <p:cNvSpPr/>
          <p:nvPr/>
        </p:nvSpPr>
        <p:spPr>
          <a:xfrm>
            <a:off x="747776" y="6054344"/>
            <a:ext cx="10195560" cy="457200"/>
          </a:xfrm>
          <a:prstGeom prst="rect">
            <a:avLst/>
          </a:prstGeom>
          <a:noFill/>
          <a:ln/>
        </p:spPr>
        <p:txBody>
          <a:bodyPr wrap="square" lIns="0" tIns="0" rIns="0" bIns="0" rtlCol="0" anchor="ctr">
            <a:normAutofit lnSpcReduction="10000"/>
          </a:bodyPr>
          <a:lstStyle/>
          <a:p>
            <a:pPr marL="0" indent="0">
              <a:buNone/>
            </a:pPr>
            <a:r>
              <a:rPr lang="en-US" sz="1650" b="1" dirty="0">
                <a:solidFill>
                  <a:srgbClr val="FFFFFF"/>
                </a:solidFill>
              </a:rPr>
              <a:t>Therefore, Google Trends should be treated as a complementary market-attention signal, not as a standalone Bitcoin trading model.</a:t>
            </a:r>
            <a:endParaRPr lang="en-US" sz="1650" dirty="0"/>
          </a:p>
        </p:txBody>
      </p:sp>
      <p:sp>
        <p:nvSpPr>
          <p:cNvPr id="12" name="Text 9"/>
          <p:cNvSpPr/>
          <p:nvPr/>
        </p:nvSpPr>
        <p:spPr>
          <a:xfrm>
            <a:off x="9875520" y="749808"/>
            <a:ext cx="1554480" cy="219456"/>
          </a:xfrm>
          <a:prstGeom prst="rect">
            <a:avLst/>
          </a:prstGeom>
          <a:noFill/>
          <a:ln/>
        </p:spPr>
        <p:txBody>
          <a:bodyPr wrap="square" lIns="0" tIns="0" rIns="0" bIns="0" rtlCol="0" anchor="ctr"/>
          <a:lstStyle/>
          <a:p>
            <a:pPr marL="0" indent="0" algn="r">
              <a:buNone/>
            </a:pPr>
            <a:r>
              <a:rPr lang="en-US" sz="1400" dirty="0">
                <a:solidFill>
                  <a:srgbClr val="CBD5E1"/>
                </a:solidFill>
              </a:rPr>
              <a:t>Thank you</a:t>
            </a:r>
            <a:endParaRPr lang="en-US" sz="1400" dirty="0"/>
          </a:p>
        </p:txBody>
      </p:sp>
      <p:pic>
        <p:nvPicPr>
          <p:cNvPr id="14" name="Picture 13">
            <a:extLst>
              <a:ext uri="{FF2B5EF4-FFF2-40B4-BE49-F238E27FC236}">
                <a16:creationId xmlns:a16="http://schemas.microsoft.com/office/drawing/2014/main" id="{247F1718-EE32-B898-8670-B3C01BAA6D10}"/>
              </a:ext>
            </a:extLst>
          </p:cNvPr>
          <p:cNvPicPr>
            <a:picLocks noChangeAspect="1"/>
          </p:cNvPicPr>
          <p:nvPr/>
        </p:nvPicPr>
        <p:blipFill>
          <a:blip r:embed="rId3"/>
          <a:srcRect l="1307" t="6261" r="1176" b="8044"/>
          <a:stretch>
            <a:fillRect/>
          </a:stretch>
        </p:blipFill>
        <p:spPr>
          <a:xfrm>
            <a:off x="6547104" y="2204720"/>
            <a:ext cx="5522976" cy="35661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1844</Words>
  <Application>Microsoft Macintosh PowerPoint</Application>
  <PresentationFormat>Widescreen</PresentationFormat>
  <Paragraphs>339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the Free State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Lead–Lag Relationships Between Bitcoin and Internet Attention</dc:title>
  <dc:subject>EDAB 6808 Assignment 1</dc:subject>
  <dc:creator>OpenAI</dc:creator>
  <cp:lastModifiedBy>Lwazi Nhlapo</cp:lastModifiedBy>
  <cp:revision>3</cp:revision>
  <dcterms:created xsi:type="dcterms:W3CDTF">2026-04-26T19:56:59Z</dcterms:created>
  <dcterms:modified xsi:type="dcterms:W3CDTF">2026-04-27T21:29:10Z</dcterms:modified>
</cp:coreProperties>
</file>